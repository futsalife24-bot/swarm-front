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e24330616d4e2a" /><Relationship Type="http://schemas.openxmlformats.org/officeDocument/2006/relationships/extended-properties" Target="/docProps/app.xml" Id="R6f068519b0534b77" /><Relationship Type="http://schemas.openxmlformats.org/officeDocument/2006/relationships/officeDocument" Target="/ppt/presentation.xml" Id="Rbb06be8980c34d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1a493d7aac4430"/>
  </p:sldMasterIdLst>
  <p:notesMasterIdLst>
    <p:notesMasterId xmlns:r="http://schemas.openxmlformats.org/officeDocument/2006/relationships" r:id="R421ee54dba8c43d2"/>
  </p:notesMasterIdLst>
  <p:sldIdLst>
    <p:sldId xmlns:r="http://schemas.openxmlformats.org/officeDocument/2006/relationships" id="256" r:id="Rb7c183c8549a4964"/>
    <p:sldId xmlns:r="http://schemas.openxmlformats.org/officeDocument/2006/relationships" id="257" r:id="R8f856f02fc154bd6"/>
    <p:sldId xmlns:r="http://schemas.openxmlformats.org/officeDocument/2006/relationships" id="258" r:id="R52d9d2e799b349cb"/>
    <p:sldId xmlns:r="http://schemas.openxmlformats.org/officeDocument/2006/relationships" id="259" r:id="Ra2fec9b9c6b5475a"/>
    <p:sldId xmlns:r="http://schemas.openxmlformats.org/officeDocument/2006/relationships" id="260" r:id="R0c53a6267c0c46ce"/>
    <p:sldId xmlns:r="http://schemas.openxmlformats.org/officeDocument/2006/relationships" id="261" r:id="R9b4843c6c2034416"/>
    <p:sldId xmlns:r="http://schemas.openxmlformats.org/officeDocument/2006/relationships" id="262" r:id="R1b2b081c64964d4f"/>
    <p:sldId xmlns:r="http://schemas.openxmlformats.org/officeDocument/2006/relationships" id="263" r:id="Rc9ff53e8d1834ee1"/>
    <p:sldId xmlns:r="http://schemas.openxmlformats.org/officeDocument/2006/relationships" id="264" r:id="Reafd4dc674b24050"/>
    <p:sldId xmlns:r="http://schemas.openxmlformats.org/officeDocument/2006/relationships" id="265" r:id="R12f4ab94f116478d"/>
    <p:sldId xmlns:r="http://schemas.openxmlformats.org/officeDocument/2006/relationships" id="266" r:id="Rc253bad0ac504e2b"/>
    <p:sldId xmlns:r="http://schemas.openxmlformats.org/officeDocument/2006/relationships" id="267" r:id="R23da4e95efb4469f"/>
    <p:sldId xmlns:r="http://schemas.openxmlformats.org/officeDocument/2006/relationships" id="268" r:id="Rdb8fca38baae4be8"/>
    <p:sldId xmlns:r="http://schemas.openxmlformats.org/officeDocument/2006/relationships" id="269" r:id="R71f4a4f855e14a5c"/>
    <p:sldId xmlns:r="http://schemas.openxmlformats.org/officeDocument/2006/relationships" id="270" r:id="Ra010c0044d0a4921"/>
    <p:sldId xmlns:r="http://schemas.openxmlformats.org/officeDocument/2006/relationships" id="271" r:id="R742efa04bbd04209"/>
    <p:sldId xmlns:r="http://schemas.openxmlformats.org/officeDocument/2006/relationships" id="272" r:id="R57e035b6d0f24c3b"/>
    <p:sldId xmlns:r="http://schemas.openxmlformats.org/officeDocument/2006/relationships" id="273" r:id="Ra2d01ebbe9ee4f2f"/>
    <p:sldId xmlns:r="http://schemas.openxmlformats.org/officeDocument/2006/relationships" id="274" r:id="R0f65c1c89b11456d"/>
    <p:sldId xmlns:r="http://schemas.openxmlformats.org/officeDocument/2006/relationships" id="275" r:id="Rb12727f7462d4c43"/>
    <p:sldId xmlns:r="http://schemas.openxmlformats.org/officeDocument/2006/relationships" id="276" r:id="R244e4139973b4940"/>
    <p:sldId xmlns:r="http://schemas.openxmlformats.org/officeDocument/2006/relationships" id="277" r:id="R138302cba5404361"/>
    <p:sldId xmlns:r="http://schemas.openxmlformats.org/officeDocument/2006/relationships" id="278" r:id="Rd4204f3c6403435a"/>
    <p:sldId xmlns:r="http://schemas.openxmlformats.org/officeDocument/2006/relationships" id="279" r:id="Ree5880d98f764d8b"/>
    <p:sldId xmlns:r="http://schemas.openxmlformats.org/officeDocument/2006/relationships" id="280" r:id="R92d38a68126943ba"/>
    <p:sldId xmlns:r="http://schemas.openxmlformats.org/officeDocument/2006/relationships" id="281" r:id="R986f5fed90c24ee1"/>
    <p:sldId xmlns:r="http://schemas.openxmlformats.org/officeDocument/2006/relationships" id="282" r:id="R18ca78b6bdb148b3"/>
    <p:sldId xmlns:r="http://schemas.openxmlformats.org/officeDocument/2006/relationships" id="283" r:id="R4e0a4a17e2fb45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50207c1ba54da8" /><Relationship Type="http://schemas.openxmlformats.org/officeDocument/2006/relationships/slideMaster" Target="/ppt/slideMasters/slideMaster1.xml" Id="Re21a493d7aac4430" /><Relationship Type="http://schemas.openxmlformats.org/officeDocument/2006/relationships/notesMaster" Target="/ppt/notesMasters/notesMaster1.xml" Id="R421ee54dba8c43d2" /><Relationship Type="http://schemas.openxmlformats.org/officeDocument/2006/relationships/presProps" Target="/ppt/presProps.xml" Id="R6cc453fa65b24078" /><Relationship Type="http://schemas.openxmlformats.org/officeDocument/2006/relationships/tableStyles" Target="/ppt/tableStyles.xml" Id="R4c920504ff144050" /><Relationship Type="http://schemas.openxmlformats.org/officeDocument/2006/relationships/slide" Target="/ppt/slides/slide1.xml" Id="Rb7c183c8549a4964" /><Relationship Type="http://schemas.openxmlformats.org/officeDocument/2006/relationships/slide" Target="/ppt/slides/slide2.xml" Id="R8f856f02fc154bd6" /><Relationship Type="http://schemas.openxmlformats.org/officeDocument/2006/relationships/slide" Target="/ppt/slides/slide3.xml" Id="R52d9d2e799b349cb" /><Relationship Type="http://schemas.openxmlformats.org/officeDocument/2006/relationships/slide" Target="/ppt/slides/slide4.xml" Id="Ra2fec9b9c6b5475a" /><Relationship Type="http://schemas.openxmlformats.org/officeDocument/2006/relationships/slide" Target="/ppt/slides/slide5.xml" Id="R0c53a6267c0c46ce" /><Relationship Type="http://schemas.openxmlformats.org/officeDocument/2006/relationships/slide" Target="/ppt/slides/slide6.xml" Id="R9b4843c6c2034416" /><Relationship Type="http://schemas.openxmlformats.org/officeDocument/2006/relationships/slide" Target="/ppt/slides/slide7.xml" Id="R1b2b081c64964d4f" /><Relationship Type="http://schemas.openxmlformats.org/officeDocument/2006/relationships/slide" Target="/ppt/slides/slide8.xml" Id="Rc9ff53e8d1834ee1" /><Relationship Type="http://schemas.openxmlformats.org/officeDocument/2006/relationships/slide" Target="/ppt/slides/slide9.xml" Id="Reafd4dc674b24050" /><Relationship Type="http://schemas.openxmlformats.org/officeDocument/2006/relationships/slide" Target="/ppt/slides/slide10.xml" Id="R12f4ab94f116478d" /><Relationship Type="http://schemas.openxmlformats.org/officeDocument/2006/relationships/slide" Target="/ppt/slides/slide11.xml" Id="Rc253bad0ac504e2b" /><Relationship Type="http://schemas.openxmlformats.org/officeDocument/2006/relationships/slide" Target="/ppt/slides/slide12.xml" Id="R23da4e95efb4469f" /><Relationship Type="http://schemas.openxmlformats.org/officeDocument/2006/relationships/slide" Target="/ppt/slides/slide13.xml" Id="Rdb8fca38baae4be8" /><Relationship Type="http://schemas.openxmlformats.org/officeDocument/2006/relationships/slide" Target="/ppt/slides/slide14.xml" Id="R71f4a4f855e14a5c" /><Relationship Type="http://schemas.openxmlformats.org/officeDocument/2006/relationships/slide" Target="/ppt/slides/slide15.xml" Id="Ra010c0044d0a4921" /><Relationship Type="http://schemas.openxmlformats.org/officeDocument/2006/relationships/slide" Target="/ppt/slides/slide16.xml" Id="R742efa04bbd04209" /><Relationship Type="http://schemas.openxmlformats.org/officeDocument/2006/relationships/slide" Target="/ppt/slides/slide17.xml" Id="R57e035b6d0f24c3b" /><Relationship Type="http://schemas.openxmlformats.org/officeDocument/2006/relationships/slide" Target="/ppt/slides/slide18.xml" Id="Ra2d01ebbe9ee4f2f" /><Relationship Type="http://schemas.openxmlformats.org/officeDocument/2006/relationships/slide" Target="/ppt/slides/slide19.xml" Id="R0f65c1c89b11456d" /><Relationship Type="http://schemas.openxmlformats.org/officeDocument/2006/relationships/slide" Target="/ppt/slides/slide20.xml" Id="Rb12727f7462d4c43" /><Relationship Type="http://schemas.openxmlformats.org/officeDocument/2006/relationships/slide" Target="/ppt/slides/slide21.xml" Id="R244e4139973b4940" /><Relationship Type="http://schemas.openxmlformats.org/officeDocument/2006/relationships/slide" Target="/ppt/slides/slide22.xml" Id="R138302cba5404361" /><Relationship Type="http://schemas.openxmlformats.org/officeDocument/2006/relationships/slide" Target="/ppt/slides/slide23.xml" Id="Rd4204f3c6403435a" /><Relationship Type="http://schemas.openxmlformats.org/officeDocument/2006/relationships/slide" Target="/ppt/slides/slide24.xml" Id="Ree5880d98f764d8b" /><Relationship Type="http://schemas.openxmlformats.org/officeDocument/2006/relationships/slide" Target="/ppt/slides/slide25.xml" Id="R92d38a68126943ba" /><Relationship Type="http://schemas.openxmlformats.org/officeDocument/2006/relationships/slide" Target="/ppt/slides/slide26.xml" Id="R986f5fed90c24ee1" /><Relationship Type="http://schemas.openxmlformats.org/officeDocument/2006/relationships/slide" Target="/ppt/slides/slide27.xml" Id="R18ca78b6bdb148b3" /><Relationship Type="http://schemas.openxmlformats.org/officeDocument/2006/relationships/slide" Target="/ppt/slides/slide28.xml" Id="R4e0a4a17e2fb45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5ebf4bb12f40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bfe8a3951f40a2" /><Relationship Type="http://schemas.openxmlformats.org/officeDocument/2006/relationships/notesMaster" Target="/ppt/notesMasters/notesMaster1.xml" Id="Rda8523061e3f44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5394b6fc4740fe" /><Relationship Type="http://schemas.openxmlformats.org/officeDocument/2006/relationships/notesMaster" Target="/ppt/notesMasters/notesMaster1.xml" Id="R4b97dab884e741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83e3d19e3e4ef9" /><Relationship Type="http://schemas.openxmlformats.org/officeDocument/2006/relationships/notesMaster" Target="/ppt/notesMasters/notesMaster1.xml" Id="Ra15ad629631045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e9394df9964841" /><Relationship Type="http://schemas.openxmlformats.org/officeDocument/2006/relationships/notesMaster" Target="/ppt/notesMasters/notesMaster1.xml" Id="R152d0204130048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9c1710a8cc4658" /><Relationship Type="http://schemas.openxmlformats.org/officeDocument/2006/relationships/notesMaster" Target="/ppt/notesMasters/notesMaster1.xml" Id="R5ed0430ad4c245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b72e3d74264267" /><Relationship Type="http://schemas.openxmlformats.org/officeDocument/2006/relationships/notesMaster" Target="/ppt/notesMasters/notesMaster1.xml" Id="Rf218becda8ac40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7e46637ae94b84" /><Relationship Type="http://schemas.openxmlformats.org/officeDocument/2006/relationships/notesMaster" Target="/ppt/notesMasters/notesMaster1.xml" Id="Re03b6150fc5e4d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28767d13fc4f19" /><Relationship Type="http://schemas.openxmlformats.org/officeDocument/2006/relationships/notesMaster" Target="/ppt/notesMasters/notesMaster1.xml" Id="R090a2af2107644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2b895d74514654" /><Relationship Type="http://schemas.openxmlformats.org/officeDocument/2006/relationships/notesMaster" Target="/ppt/notesMasters/notesMaster1.xml" Id="Ra370e9889d134e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e5c4c2f153467c" /><Relationship Type="http://schemas.openxmlformats.org/officeDocument/2006/relationships/notesMaster" Target="/ppt/notesMasters/notesMaster1.xml" Id="Rec1d6317adc048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78b4f93cd84fbb" /><Relationship Type="http://schemas.openxmlformats.org/officeDocument/2006/relationships/notesMaster" Target="/ppt/notesMasters/notesMaster1.xml" Id="Rfebaa6d43b614c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5b5ecbca1e4794" /><Relationship Type="http://schemas.openxmlformats.org/officeDocument/2006/relationships/notesMaster" Target="/ppt/notesMasters/notesMaster1.xml" Id="Rf0fe3c9967244c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bd4e1ff4d04e04" /><Relationship Type="http://schemas.openxmlformats.org/officeDocument/2006/relationships/notesMaster" Target="/ppt/notesMasters/notesMaster1.xml" Id="R2b7f59209a3844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4a3e94238f4524" /><Relationship Type="http://schemas.openxmlformats.org/officeDocument/2006/relationships/notesMaster" Target="/ppt/notesMasters/notesMaster1.xml" Id="Re380fe31cd0d4a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2174f04fff4b5e" /><Relationship Type="http://schemas.openxmlformats.org/officeDocument/2006/relationships/notesMaster" Target="/ppt/notesMasters/notesMaster1.xml" Id="Rf1b3373c2dc943d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b5727d749347c7" /><Relationship Type="http://schemas.openxmlformats.org/officeDocument/2006/relationships/notesMaster" Target="/ppt/notesMasters/notesMaster1.xml" Id="R6a51a5f0d9134e8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f586d9ecd45400c" /><Relationship Type="http://schemas.openxmlformats.org/officeDocument/2006/relationships/notesMaster" Target="/ppt/notesMasters/notesMaster1.xml" Id="R3461463c44d34f7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bffad31b77f4ee6" /><Relationship Type="http://schemas.openxmlformats.org/officeDocument/2006/relationships/notesMaster" Target="/ppt/notesMasters/notesMaster1.xml" Id="Rf3968a173ef54e2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cef54bd4ee74681" /><Relationship Type="http://schemas.openxmlformats.org/officeDocument/2006/relationships/notesMaster" Target="/ppt/notesMasters/notesMaster1.xml" Id="R84c72bac22d2466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390f764a020482f" /><Relationship Type="http://schemas.openxmlformats.org/officeDocument/2006/relationships/notesMaster" Target="/ppt/notesMasters/notesMaster1.xml" Id="R8f502660c2d240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3d038d23e4c4a92" /><Relationship Type="http://schemas.openxmlformats.org/officeDocument/2006/relationships/notesMaster" Target="/ppt/notesMasters/notesMaster1.xml" Id="R7b894a8fffdb49c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3bf21e8a6c54829" /><Relationship Type="http://schemas.openxmlformats.org/officeDocument/2006/relationships/notesMaster" Target="/ppt/notesMasters/notesMaster1.xml" Id="Rcc998970b51841d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508b33c504f4f32" /><Relationship Type="http://schemas.openxmlformats.org/officeDocument/2006/relationships/notesMaster" Target="/ppt/notesMasters/notesMaster1.xml" Id="R216439db918449a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136b9e178d8484c" /><Relationship Type="http://schemas.openxmlformats.org/officeDocument/2006/relationships/notesMaster" Target="/ppt/notesMasters/notesMaster1.xml" Id="R0d971493a30f4cb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c3efa1617064a44" /><Relationship Type="http://schemas.openxmlformats.org/officeDocument/2006/relationships/notesMaster" Target="/ppt/notesMasters/notesMaster1.xml" Id="R1510ae7a90784d0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a64f487dbdc45a8" /><Relationship Type="http://schemas.openxmlformats.org/officeDocument/2006/relationships/notesMaster" Target="/ppt/notesMasters/notesMaster1.xml" Id="Rd9e0b5f8a8ac4ad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68ce822fd5942d4" /><Relationship Type="http://schemas.openxmlformats.org/officeDocument/2006/relationships/notesMaster" Target="/ppt/notesMasters/notesMaster1.xml" Id="R6a928cf9373b480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4ed8ed2a3894b73" /><Relationship Type="http://schemas.openxmlformats.org/officeDocument/2006/relationships/notesMaster" Target="/ppt/notesMasters/notesMaster1.xml" Id="R0019e151ad504d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メロニキ、今回の提案でワシが一番作りたいのは、自分で狙った一発が起点になって、敵の群れが連鎖して崩れる瞬間です。スワフロにある兵士を操作する楽しさを中心に置きながら、出撃の途中で戦い方が大きく変わる楽しさを加えます。このプレゼンでは変更点だけでなく、なぜ気持ちいいと考えるのか、今の魅力をどう守るのか、どの順番で作れば確かめられるのかまで説明します。画像は開発コンセプトで、実装済み画面では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画像：docs/presentations/rebuild-20260929/assets/update-concept.png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地球防衛軍とヴァンサバから取り入れたいのは、それぞれの体験の核です。巨大な脅威に兵士として立ち向かうことと、一回のプレイの中で選んだ強化が組み合わさること。この二つがつながると、撃ち勝った達成感に、自分が選んだ構成で勝った納得感が加わります。単純に敵や武器を増やすだけでは、この変化は生まれません。どこを撃つかという操作と、何を取るかという選択を、実際の発動で結び付けるのが今回の中心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のスワフロの価値は、自分で兵士を動かして対処できるところです。遠距離の敵を先に倒す、装填中に位置を変える、武器を切り替えて対応する。その行動が結果につながる感触を残します。既存の兵士や異形の敵、マップ、音声も、リビルドの土台になります。画面のテーマや出撃準備をまったく別物に置き換える案ではありません。これまで育てたゲームの顔を継承しながら、一回の出撃の中に成長の山場を増やす提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画像：docs/evidence/trooper-design-v9/rifle-oblique.jpg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変更は五つの領域に分けると分かりやすいです。戦闘では操作を残して効果を加えます。成長では長い期間の蓄積に加えて、一回の出撃でも構成を作れるようにします。山場ではボスとの対決の前に、進化した能力を十分使える時間を用意します。遊び方は、毎日一回の機会だけに閉じず、構成を変えて繰り返せる形へ広げます。既存の武器庫やセーブは保護します。新しいモードの基礎値を標準化するのは試作案であり、持っている武器の能力を下げる変更では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は仮の設計値です。約7分は戦闘の目標で、選択時間やロードを含む実所要の保証ではありません。開始時に実際のカードを一枚取り、早い段階で追加の強化を体験します。中盤は精鋭への対応と構成作り、4分台には進化を狙い、その後に群れを圧倒できる時間を置きます。5分45秒の最終補給で未処理の強化権を確定し、すぐ大型敵へ移行します。ボス戦中はカード選択で中断しません。長期化した場合の試作上限は戦闘9分ですが、これも試遊で調整する値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モードの初回で、何分も普通に撃ち続けてから面白くなる構成は避けたいです。最初の選択を実カードとして扱い、初めて倒した敵から能力の違いが見えるようにします。たとえば誘爆核なら、撃破の直後に小爆発が起きます。次に導火を取ったら、印の付いた敵を狙うという新しい判断が生まれます。大事なのは説明文を理解したかだけでなく、本人が「今の強化でこれが起きた」と言えることです。XPの閾値と敵編成を一緒に調整し、早い強化が実際に間に合うかを測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枚の中でいつも一番レアなものを押すだけでは、構成を作った感覚が弱くなります。この例では、誘爆核を持っている人が、爆発の完成を急ぐか、装填の苦しさを補うか、貫通を始めるかを選びます。すべてに現在の状況と結び付く理由があります。数字だけを少し増やすカードばかりにせず、発動の仕方や狙い方の変化を中心にします。同時に、未対応の武器専用カードや上限に達した能力は候補から外します。再抽選は少数回を仮置きし、選び直し自体が主な遊びにならないように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化は同じ系統の三枚を集めた結果として発生します。別の進化カードを引き当てる必要はありません。二枚を持っている人には、残る三枚目を次の三択から毎回出します。ただし必ず取らせるわけではなく、危機をしのぐ汎用強化を選ぶこともできます。これで「あとは運が良ければ完成する」という不満を減らし、自分が完成を選んだという納得感を残します。進化は追加能力だけで、既存の操作や能力を失わせません。七取得の中で三枚、三枚、一枚と分ければ、三系統版では二回の進化も可能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初に作るべきなのが、この爆発系です。誘爆核は手動で倒した敵を小さな爆発の起点にします。導火は印を付けて次の命中で起爆するため、どの敵を先に撃つかが重要になります。三枚そろった連鎖崩落では、印の起爆が周囲の印へ伝わります。敵が密集したところを見つけて一発を通し、広がる爆発を見届ける。ここに、自分で仕掛けた感覚と大量撃破の爽快感を重ねます。連鎖は深度や同じ対象への再発動を制限し、無限に処理が続く構造を避けます。画面上の派手さも、実際の命中や撃破に対応させ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貫通系は、爆発とは違う上手さを気持ちよくする構成です。敵を一直線に並べられる位置へ移動し、複数体をまとめて貫きます。整列射には弾を返す効果があるので、うまく通せた射撃が次の射撃につながります。跳弾撃破で次の手動弾が強くなる進化も、次に自分が撃つ一発の期待を作ります。最初から弱点を自動追尾する弾で全てを片付ける案は採りません。近くの別対象への一回跳弾から試します。射線を取った判断の良さが分かることを、単純なダメージの高さと同じくらい重視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迎撃系は、回避や装填をただの待ち時間にしない構成です。敵を引きつけて回避し、終点に地雷を残す。装填を短くし、その隙に短い援護が入る。地雷が起爆した後は、自分の次の命中が追加の迎撃弾を呼びます。守る行動から攻めへ転じる気持ちよさが狙いです。一方で、回避だけを連打して勝てたり、空撃ち装填で火力を稼げたりすると射撃の意味が薄れます。地雷は最大三個、チャージは一つ、既存の回避クールダウンも守ります。常駐子機が放置で倒し続ける形は、最初の試作から外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表は完成形を分かりやすくするための選択例です。まず爆発系の三枚を集めて進化し、その後は貫通系へ広げます。最後に装填を補えば、群れを崩す火力と射線を通す力を合わせ持つ構成になります。三枚目の保証があるので、二枚取ったところから完成を狙いやすくなります。ただし、最初から七回全てを保証する設計ではありません。XPが足りない場合もあれば、耐久や装填を優先して進化を見送る場合もあります。本人が状況に合わせて選び、その選択の結果が戦い方に表れることが大切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メロニキが言っていたドーパミンを出したいという方向を、設計で扱える瞬間に分けました。候補が見えた時の期待、あと一枚で完成する待ち遠しさ、最初に能力が発動した時の納得、進化した達成感、群れを倒す爽快感、別の構成を試したい好奇心です。これは神経伝達物質の分泌を測った話ではありません。プレイヤーがどう感じるかという仮説を、実際の画面と行動へ落とすための整理です。豪華な報酬を出すだけでなく、選択と結果が近い時間でつながるように作ることを重視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期待感を作るために、プレイヤーから情報を隠し過ぎる必要はありません。むしろ「あと何があれば完成するのか」が見える方が、自分の目標を持って戦えます。二枚まで進んだら残り一枚を保証するので、抽選が外れ続けるだけの時間を減らせます。それでも、その場で完成を選ぶか、装甲や装填を補うかという判断は残ります。ここでの気持ちよさは、ただ当たりを引いた喜びに加えて、自分が決めて完成させた喜びです。次に何を狙うかを本人が言える状態を作りたいと考え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化を選んでも、何が変わったか分からないと成長の手応えは薄くなります。まず選んだ時に変化を短く伝え、最初の発動でそれを確認できるようにします。爆発の起点、付いた印、跳ねた弾が見えれば、自分の操作との因果が分かります。最後に音や撃破反応が返って、行動が締まります。ここで全てを派手にすると、敵の予兆や足元の危険が消えてしまいます。自分が危険を読めることを優先し、味方のエフェクトを減らしても判定は変えません。気持ちよさと視認性はセットで確認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長を実感するには、少し前の自分との比較が必要です。序盤は一体ずつ相手にしていた群れを、進化後は起点の一発から崩せる。同じような敵に対して、戦い方と処理の速さが変わることが重要です。強化を取るたびに敵のHPも同じだけ上げると、その差が感じにくくなります。そのため敵の出現計画と難易度は出撃条件で決め、取得した強化へ追従させません。進化の直後に終わらないよう、少なくとも六十秒程度操作できたかを測ります。ただし、強いプレイヤーを待たせるための無敵時間は作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型敵戦は、構成を完成させた結果を確かめる場所です。ただ火力を眺めるだけで終わると、兵士を操作する意味が弱くなります。予兆を見て避ける、援軍を先に処理する、装填に合わせて位置を変えるといった判断を残します。既存の大型敵を使うことで、素材を作り直す前に成長と操作の組合せを検証できます。画像は既存CALYXの造形資料で、アップデート後の完成映像ではありません。初回試作では大型一体に絞り、途中の中ボス戦や新しいボスの大量追加は必須に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画像：docs/evidence/calyx-v5/hero.png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再挑戦の理由を、報酬を受け取る義務だけに頼りたくありません。前回見送った能力、うまく使えなかった回避、足りなかった装填速度。次の出撃で試したいことが具体的に残るようにします。戦果画面では長い演出で待たせず、どんな構成になったか、どこまで進化したか、何が見せ場だったかを短く確認します。同じ装備でやり直す導線と、違う系統で始める導線を近くに置く案です。試遊では、こちらから勧めなくても再挑戦するかと、その理由を本人が言えるかを観察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日替わり防衛を発展させるときは、拠点のそばでずっと撃つだけになるかどうかが重要です。爆発構成なら侵攻路の密集を狙い、貫通構成なら敵が並ぶ射線を取り、迎撃構成なら回避の経路へ地雷を残す。それぞれが得意な位置を持つと、前に出る判断と戻って守る判断が生まれます。ただし、これはまだ仮説です。最初は同じ地形で拠点なしの成長ループを作り、次に拠点を加えて比較します。拠点がある方が窮屈なだけなら、守る対象の位置や侵攻路の設計を見直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画像：docs/evidence/clean-capture/844-clean.png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何度でも遊べる作戦と、その日の条件を楽しむ作戦を、同じ戦闘規則の上に置く提案です。通常の迎撃作戦は自分の好みを掘り下げる場所、日替わり作戦は普段選ばない構成に触れる場所になります。日替わりだから毎日必ず参加しないと損をする、という圧力を中心にはしません。条件が変わること自体が遊ぶ理由になるかを確かめます。現在の日替わり防衛は百八十秒、一日一回、既存の武器報酬と参加台帳があります。これを試作のために上書きせず、新モードの報酬や回数は製品の判断として分け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協力では、よく敵を倒せる人だけが成長し続ける偏りを避けるため、XPを部隊で共有します。全員が同じ回数の選択権を得ますが、候補と構成は個人別です。個人のレベルアップごとに全員を止めるとテンポが悪くなるので、区間の合間にまとめて選びます。敵の生成だけを止めても残った弾で被弾するため、戦闘全体を止めます。十五秒はカード一枚ごとではなく、その停止全体の上限です。期限時は表示済みの既定規則で未処理分を確定します。まず実際の二人で待ち時間を測り、成立してから四人へ広げ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面を新しくする時も、スワフロの既存テーマと構成を土台にします。三択画面では短いカード名だけで判断させず、何をした時に何が起こるか、今の装備にどう効くか、進化まで何枚かを同時に見せます。長い説明を読むために上下スクロールしないと選べない状態は避けたいです。選択の背後には戦場を暗く残し、再開直後の危険を確認できるようにします。横画面八百四十四かける三百九十と、狭い六百四十かける三百六十、それに物理スマホで可読性と指の操作を確認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画像：docs/evidence/weekly-title/title-1280.png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既存プレイヤーが集めて育てたものを、リビルドのために無断で弱くしたり消したりしない方針です。試作では武器種と見た目を使い、モード内の基礎値だけをそろえます。そうする理由は、進行度の差よりカード構成の違いを比べやすくするためです。所持品の原本を書き換える意味ではありません。製品化の時には、持っている武器の性能をどこまで活かすか、収集価値をどうつなぐかを改めて決めます。初回から新モードで武器を大量配布すると既存の経済へ影響するため、楽しさの試作には報酬を接続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盛り上がる要素を増やすほど、別の楽しさを壊すこともあります。自動支援を強くし過ぎると操作の価値が落ち、演出を派手にし過ぎると危険が読めなくなります。進化が存在しても使う前に終われば、期待だけで終わってしまいます。ここでは問題を後から感想として受け取るだけでなく、試す前に見る項目を決めています。特に協力の十五秒は、六回待てば九十秒にもなります。短い作戦の中では大きい時間です。上限を設定しただけで解決したとは考えず、人間が感じる待ちと実際の停止時間を両方確認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ワシのおすすめは、この順番です。まず一面、一兵士、対応する武器一タイプ、爆発系で、狙った一発の快感を作ります。汎用三種類は各四段階にして、後半でも有効な候補を残します。そこが良くなったら三構成へ広げ、選択する面白さを確認します。次に防衛を加え、守る対象があることで判断が増えるかを比較します。その後、実際の二人で協力を検証し、四人へ拡張します。報酬と既存進行は最後です。最初から地形破壊や建築や新兵科まで作ると、核の体験が弱かった時に直す範囲が大きくな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設計書が整っていても、面白さは実装して人間が触らないと分かりません。最初の一分で何が変わったか、狙い方を変えた理由は何か、次にどの構成を試したいかを本人の言葉で聞きます。自動プレイの勝率だけでは、この問いに答えられません。進化後に操作できた時間や協力中の待ち時間も記録します。初回は五人前後で方向を確認する案ですが、その意見を統計的な普遍性とは扱いません。候補数の列挙検証はできていても、抽選の手触り、戦闘バランス、スマホの熱や描画性能は別の検証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アップデート後に感じてほしい魅力を、最後に言葉にします。今のスワフロが持つ、狙いが通った、危険を避けた、この武器で対処できたという感覚。その上に、この組合せがつながった、一発で群れを崩せた、次は別の構成を試したいという感覚を加えます。操作が上手くなった喜びと、構成を作る判断がうまくいった喜びを、一回の出撃で両方味わえるのが狙いです。どちらかが消えてしまうなら、リビルドの方向を見直します。派手さだけではなく、自分の操作と選択で起きたという納得が中心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メロニキへのワシの提案は、まず爆発一系統の試作へ進むことです。誘爆核で最初の違いを感じ、導火で狙う相手を変え、圧縮炸薬をそろえて連鎖崩落を起こす。この一連の流れが気持ちよければ、今回の大型アップデートの核になります。初回は既存の一面と兵士を活用し、報酬を接続せず、元の武器やセーブを保持します。そこで感じた手応えを基に貫通と迎撃を加え、防衛、協力へ広げます。今ここで決めたいのは全機能の一括実装ではなく、この核を確かめる小さい試作を次の制作対象にすること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出典：https://github.com/futsalife24-bot/swarm-front/blob/d98ae079e14e5d9b7cb05dbd02290b0f90b11870/docs/design/rebuild-20260929/DESIGN.md</a:t>
            </a:r>
          </a:p>
          <a:p xmlns:a="http://schemas.openxmlformats.org/drawingml/2006/main">
            <a:r>
              <a:t>提案と検証事項の説明。ゲームへの実装は未着手。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64698e116b4f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9b2b519bfe41c9" /><Relationship Type="http://schemas.openxmlformats.org/officeDocument/2006/relationships/slideLayout" Target="/ppt/slideLayouts/slideLayout1.xml" Id="R28cd7913ce434e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cd7913ce434e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81c375f424421" /><Relationship Type="http://schemas.openxmlformats.org/officeDocument/2006/relationships/image" Target="/ppt/media/image.png" Id="R91fa865ccd814f3b" /><Relationship Type="http://schemas.openxmlformats.org/officeDocument/2006/relationships/notesSlide" Target="/ppt/notesSlides/notesSlide1.xml" Id="R0bb26a6ccbd64f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3192da7304563" /><Relationship Type="http://schemas.openxmlformats.org/officeDocument/2006/relationships/notesSlide" Target="/ppt/notesSlides/notesSlide2.xml" Id="R809a0998352146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b51c7119d4070" /><Relationship Type="http://schemas.openxmlformats.org/officeDocument/2006/relationships/image" Target="/ppt/media/image.jpeg" Id="R5518dd2dded542ef" /><Relationship Type="http://schemas.openxmlformats.org/officeDocument/2006/relationships/notesSlide" Target="/ppt/notesSlides/notesSlide3.xml" Id="R3e9c5980e9e84b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87f7b3c2c4699" /><Relationship Type="http://schemas.openxmlformats.org/officeDocument/2006/relationships/notesSlide" Target="/ppt/notesSlides/notesSlide4.xml" Id="R7ea986f287944f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69ceeede3408d" /><Relationship Type="http://schemas.openxmlformats.org/officeDocument/2006/relationships/notesSlide" Target="/ppt/notesSlides/notesSlide5.xml" Id="Ra8b4ceb1b8a645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334c51dd44c35" /><Relationship Type="http://schemas.openxmlformats.org/officeDocument/2006/relationships/notesSlide" Target="/ppt/notesSlides/notesSlide6.xml" Id="R1b79eb7349d542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5f9f1ae7b4084" /><Relationship Type="http://schemas.openxmlformats.org/officeDocument/2006/relationships/notesSlide" Target="/ppt/notesSlides/notesSlide7.xml" Id="Ref53c728239645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f64ce620f4781" /><Relationship Type="http://schemas.openxmlformats.org/officeDocument/2006/relationships/notesSlide" Target="/ppt/notesSlides/notesSlide8.xml" Id="R7af7f41923544d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f27b0003d4e74" /><Relationship Type="http://schemas.openxmlformats.org/officeDocument/2006/relationships/notesSlide" Target="/ppt/notesSlides/notesSlide9.xml" Id="R90030944fc2e43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253cd95a242b7" /><Relationship Type="http://schemas.openxmlformats.org/officeDocument/2006/relationships/notesSlide" Target="/ppt/notesSlides/notesSlide10.xml" Id="Rd9f15be1fbdd48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c7d7fa910413c" /><Relationship Type="http://schemas.openxmlformats.org/officeDocument/2006/relationships/notesSlide" Target="/ppt/notesSlides/notesSlide11.xml" Id="R975edcd5c4ab49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7b0b2f230409c" /><Relationship Type="http://schemas.openxmlformats.org/officeDocument/2006/relationships/notesSlide" Target="/ppt/notesSlides/notesSlide12.xml" Id="Rcc74baeeb85e43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b348ca06b404c" /><Relationship Type="http://schemas.openxmlformats.org/officeDocument/2006/relationships/notesSlide" Target="/ppt/notesSlides/notesSlide13.xml" Id="R6f8653aefa934a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475d62c5849f1" /><Relationship Type="http://schemas.openxmlformats.org/officeDocument/2006/relationships/notesSlide" Target="/ppt/notesSlides/notesSlide14.xml" Id="R8d4220b06bd34b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3be1c354c41b4" /><Relationship Type="http://schemas.openxmlformats.org/officeDocument/2006/relationships/notesSlide" Target="/ppt/notesSlides/notesSlide15.xml" Id="R5057bce2e34646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c374d9b964ef1" /><Relationship Type="http://schemas.openxmlformats.org/officeDocument/2006/relationships/notesSlide" Target="/ppt/notesSlides/notesSlide16.xml" Id="R131a8687e5b141a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8e14dfe554ca4" /><Relationship Type="http://schemas.openxmlformats.org/officeDocument/2006/relationships/image" Target="/ppt/media/image2.png" Id="Rf89774656a0444df" /><Relationship Type="http://schemas.openxmlformats.org/officeDocument/2006/relationships/notesSlide" Target="/ppt/notesSlides/notesSlide17.xml" Id="R11fbe3fa915141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9921cd6fe447f" /><Relationship Type="http://schemas.openxmlformats.org/officeDocument/2006/relationships/notesSlide" Target="/ppt/notesSlides/notesSlide18.xml" Id="R4bfa895d30d14d2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feb078bc34c1c" /><Relationship Type="http://schemas.openxmlformats.org/officeDocument/2006/relationships/image" Target="/ppt/media/image3.png" Id="Rc0c2d7f2c9174983" /><Relationship Type="http://schemas.openxmlformats.org/officeDocument/2006/relationships/notesSlide" Target="/ppt/notesSlides/notesSlide19.xml" Id="Rd67c478505db4b1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87e5790eb46be" /><Relationship Type="http://schemas.openxmlformats.org/officeDocument/2006/relationships/notesSlide" Target="/ppt/notesSlides/notesSlide20.xml" Id="R733fe7a8b2d141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558f94b8b4c60" /><Relationship Type="http://schemas.openxmlformats.org/officeDocument/2006/relationships/notesSlide" Target="/ppt/notesSlides/notesSlide21.xml" Id="Re14fd674810246c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3bc86d02b4154" /><Relationship Type="http://schemas.openxmlformats.org/officeDocument/2006/relationships/image" Target="/ppt/media/image4.png" Id="R4c5a2ceb3a034880" /><Relationship Type="http://schemas.openxmlformats.org/officeDocument/2006/relationships/notesSlide" Target="/ppt/notesSlides/notesSlide22.xml" Id="R02322d156cd246b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46e592e0a45a8" /><Relationship Type="http://schemas.openxmlformats.org/officeDocument/2006/relationships/notesSlide" Target="/ppt/notesSlides/notesSlide23.xml" Id="R1dd370836e6f4ec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ffe3755b94378" /><Relationship Type="http://schemas.openxmlformats.org/officeDocument/2006/relationships/notesSlide" Target="/ppt/notesSlides/notesSlide24.xml" Id="R20509f5abb594fd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f36afbe1c43d0" /><Relationship Type="http://schemas.openxmlformats.org/officeDocument/2006/relationships/notesSlide" Target="/ppt/notesSlides/notesSlide25.xml" Id="Rc6baafa9d8b9423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dae67debf47af" /><Relationship Type="http://schemas.openxmlformats.org/officeDocument/2006/relationships/notesSlide" Target="/ppt/notesSlides/notesSlide26.xml" Id="Ra8e0b3c9babd4c4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237ec1878444b" /><Relationship Type="http://schemas.openxmlformats.org/officeDocument/2006/relationships/notesSlide" Target="/ppt/notesSlides/notesSlide27.xml" Id="R67f731cc5c67450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fe6f545a549c4" /><Relationship Type="http://schemas.openxmlformats.org/officeDocument/2006/relationships/notesSlide" Target="/ppt/notesSlides/notesSlide28.xml" Id="R79cbf808dd3b42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E0224149-9E7D-499B-A0FC-13B8CCBD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大型アップデート">
            <a:extLst xmlns:a="http://schemas.openxmlformats.org/drawingml/2006/main">
              <a:ext uri="{FF2B5EF4-FFF2-40B4-BE49-F238E27FC236}">
                <a16:creationId xmlns:a16="http://schemas.microsoft.com/office/drawing/2014/main" id="{FCD68D87-A4AA-458E-8728-E723F1BF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大型アップデート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B0E788C6-1A78-4855-83BB-8E649E7D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01 / 28">
            <a:extLst xmlns:a="http://schemas.openxmlformats.org/drawingml/2006/main">
              <a:ext uri="{FF2B5EF4-FFF2-40B4-BE49-F238E27FC236}">
                <a16:creationId xmlns:a16="http://schemas.microsoft.com/office/drawing/2014/main" id="{D634E811-D559-4829-996E-E84A0D13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01 / 28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a865ccd814f3b"/>
          <a:stretch xmlns:a="http://schemas.openxmlformats.org/drawingml/2006/main"/>
        </p:blipFill>
        <p:spPr>
          <a:xfrm xmlns:a="http://schemas.openxmlformats.org/drawingml/2006/main">
            <a:off x="666750" y="1521755"/>
            <a:ext cx="7048500" cy="3966889"/>
          </a:xfrm>
          <a:prstGeom xmlns:a="http://schemas.openxmlformats.org/drawingml/2006/main" prst="rect">
            <a:avLst/>
          </a:prstGeom>
        </p:spPr>
      </p:pic>
      <p:sp>
        <p:nvSpPr>
          <p:cNvPr id="6" name="スワフロの次の遊び">
            <a:extLst xmlns:a="http://schemas.openxmlformats.org/drawingml/2006/main">
              <a:ext uri="{FF2B5EF4-FFF2-40B4-BE49-F238E27FC236}">
                <a16:creationId xmlns:a16="http://schemas.microsoft.com/office/drawing/2014/main" id="{47A53ED2-E07E-4119-9350-3CEEEB69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スワフロの次の遊び</a:t>
            </a:r>
          </a:p>
        </p:txBody>
      </p:sp>
      <p:sp>
        <p:nvSpPr>
          <p:cNvPr id="7" name="手動の一発から、群れを崩す。">
            <a:extLst xmlns:a="http://schemas.openxmlformats.org/drawingml/2006/main">
              <a:ext uri="{FF2B5EF4-FFF2-40B4-BE49-F238E27FC236}">
                <a16:creationId xmlns:a16="http://schemas.microsoft.com/office/drawing/2014/main" id="{A398F67D-9F89-405B-81AF-83E2FB77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8610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手動の一発から、群れを崩す。</a:t>
            </a:r>
          </a:p>
        </p:txBody>
      </p:sp>
      <p:sp>
        <p:nvSpPr>
          <p:cNvPr id="8" name="変更・成長・爽快感&#10;守る魅力と、増える魅力">
            <a:extLst xmlns:a="http://schemas.openxmlformats.org/drawingml/2006/main">
              <a:ext uri="{FF2B5EF4-FFF2-40B4-BE49-F238E27FC236}">
                <a16:creationId xmlns:a16="http://schemas.microsoft.com/office/drawing/2014/main" id="{98DD4F82-076F-441A-BF73-B71897A9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62475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変更・成長・爽快感</a:t>
            </a:r>
          </a:p>
          <a:p xmlns:a="http://schemas.openxmlformats.org/drawingml/2006/main">
            <a:pPr>
              <a:defRPr sz="18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守る魅力と、増える魅力</a:t>
            </a:r>
          </a:p>
        </p:txBody>
      </p:sp>
      <p:sp>
        <p:nvSpPr>
          <p:cNvPr id="9" name="共同設計v1の提案。実装前のコンセプト。">
            <a:extLst xmlns:a="http://schemas.openxmlformats.org/drawingml/2006/main">
              <a:ext uri="{FF2B5EF4-FFF2-40B4-BE49-F238E27FC236}">
                <a16:creationId xmlns:a16="http://schemas.microsoft.com/office/drawing/2014/main" id="{30058F00-3026-4690-87CB-9BD4C63B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共同設計v1の提案。実装前のコンセプト。</a:t>
            </a:r>
          </a:p>
        </p:txBody>
      </p:sp>
    </p:spTree>
    <p:extLst>
      <p:ext uri="{BB962C8B-B14F-4D97-AF65-F5344CB8AC3E}">
        <p14:creationId xmlns:p14="http://schemas.microsoft.com/office/powerpoint/2010/main" val="513756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571118DD-6506-478D-A6A1-BE1E2A35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アップデートの中心">
            <a:extLst xmlns:a="http://schemas.openxmlformats.org/drawingml/2006/main">
              <a:ext uri="{FF2B5EF4-FFF2-40B4-BE49-F238E27FC236}">
                <a16:creationId xmlns:a16="http://schemas.microsoft.com/office/drawing/2014/main" id="{3C467998-1B33-4B25-8CA7-309FAE26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アップデートの中心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068A8CBF-D343-431A-A8F8-39ABC3B2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02 / 28">
            <a:extLst xmlns:a="http://schemas.openxmlformats.org/drawingml/2006/main">
              <a:ext uri="{FF2B5EF4-FFF2-40B4-BE49-F238E27FC236}">
                <a16:creationId xmlns:a16="http://schemas.microsoft.com/office/drawing/2014/main" id="{EB9469C2-3797-4FD5-B583-217BE19C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02 / 28</a:t>
            </a:r>
          </a:p>
        </p:txBody>
      </p:sp>
      <p:sp>
        <p:nvSpPr>
          <p:cNvPr id="5" name="操作で切り開く&#10;構成で強くなる">
            <a:extLst xmlns:a="http://schemas.openxmlformats.org/drawingml/2006/main">
              <a:ext uri="{FF2B5EF4-FFF2-40B4-BE49-F238E27FC236}">
                <a16:creationId xmlns:a16="http://schemas.microsoft.com/office/drawing/2014/main" id="{2EE5FDA5-B5DD-416A-AB31-89EF89BC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108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5100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操作で切り開く</a:t>
            </a:r>
          </a:p>
          <a:p xmlns:a="http://schemas.openxmlformats.org/drawingml/2006/main">
            <a:pPr>
              <a:defRPr sz="5100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5100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構成で強くなる</a:t>
            </a:r>
          </a:p>
        </p:txBody>
      </p:sp>
      <p:sp>
        <p:nvSpPr>
          <p:cNvPr id="6" name="狙う敵と位置取りが、連鎖の結果を変える。&#10;出撃中の選択が、次の戦">
            <a:extLst xmlns:a="http://schemas.openxmlformats.org/drawingml/2006/main">
              <a:ext uri="{FF2B5EF4-FFF2-40B4-BE49-F238E27FC236}">
                <a16:creationId xmlns:a16="http://schemas.microsoft.com/office/drawing/2014/main" id="{08074126-DD0D-4A6E-A5AC-886FC0A5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狙う敵と位置取りが、連鎖の結果を変える。</a:t>
            </a:r>
          </a:p>
          <a:p xmlns:a="http://schemas.openxmlformats.org/drawingml/2006/main">
            <a:pPr>
              <a:defRPr sz="2250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出撃中の選択が、次の戦い方を変える。</a:t>
            </a:r>
          </a:p>
        </p:txBody>
      </p:sp>
    </p:spTree>
    <p:extLst>
      <p:ext uri="{BB962C8B-B14F-4D97-AF65-F5344CB8AC3E}">
        <p14:creationId xmlns:p14="http://schemas.microsoft.com/office/powerpoint/2010/main" val="907729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25FD0FF0-718D-4E14-948E-40A23D51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旧来の魅力を残す">
            <a:extLst xmlns:a="http://schemas.openxmlformats.org/drawingml/2006/main">
              <a:ext uri="{FF2B5EF4-FFF2-40B4-BE49-F238E27FC236}">
                <a16:creationId xmlns:a16="http://schemas.microsoft.com/office/drawing/2014/main" id="{DC8199E7-3535-483C-945B-F6BCB188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旧来の魅力を残す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477DC740-86A4-4735-B898-EF53A92E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03 / 28">
            <a:extLst xmlns:a="http://schemas.openxmlformats.org/drawingml/2006/main">
              <a:ext uri="{FF2B5EF4-FFF2-40B4-BE49-F238E27FC236}">
                <a16:creationId xmlns:a16="http://schemas.microsoft.com/office/drawing/2014/main" id="{B1E85761-E0B8-4A18-83FD-0C52BF0E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03 / 28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8dd2dded542ef"/>
          <a:stretch xmlns:a="http://schemas.openxmlformats.org/drawingml/2006/main"/>
        </p:blipFill>
        <p:spPr>
          <a:xfrm xmlns:a="http://schemas.openxmlformats.org/drawingml/2006/main">
            <a:off x="666750" y="1914525"/>
            <a:ext cx="5143500" cy="3257550"/>
          </a:xfrm>
          <a:prstGeom xmlns:a="http://schemas.openxmlformats.org/drawingml/2006/main" prst="rect">
            <a:avLst/>
          </a:prstGeom>
        </p:spPr>
      </p:pic>
      <p:sp>
        <p:nvSpPr>
          <p:cNvPr id="6" name="既存兵士モデルの制作記録">
            <a:extLst xmlns:a="http://schemas.openxmlformats.org/drawingml/2006/main">
              <a:ext uri="{FF2B5EF4-FFF2-40B4-BE49-F238E27FC236}">
                <a16:creationId xmlns:a16="http://schemas.microsoft.com/office/drawing/2014/main" id="{131A22F1-12F3-45CF-BBF7-20590377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既存兵士モデルの制作記録</a:t>
            </a:r>
          </a:p>
        </p:txBody>
      </p:sp>
      <p:sp>
        <p:nvSpPr>
          <p:cNvPr id="7" name="兵士を自分で動かす">
            <a:extLst xmlns:a="http://schemas.openxmlformats.org/drawingml/2006/main">
              <a:ext uri="{FF2B5EF4-FFF2-40B4-BE49-F238E27FC236}">
                <a16:creationId xmlns:a16="http://schemas.microsoft.com/office/drawing/2014/main" id="{729BDED5-3A8D-4F4A-AC22-563989EE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兵士を自分で動かす</a:t>
            </a:r>
          </a:p>
        </p:txBody>
      </p:sp>
      <p:sp>
        <p:nvSpPr>
          <p:cNvPr id="8" name="手動射撃、回避、装填、武器2本の切替">
            <a:extLst xmlns:a="http://schemas.openxmlformats.org/drawingml/2006/main">
              <a:ext uri="{FF2B5EF4-FFF2-40B4-BE49-F238E27FC236}">
                <a16:creationId xmlns:a16="http://schemas.microsoft.com/office/drawing/2014/main" id="{C6860ED9-0595-4A00-B3D9-8E7A8FAD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527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手動射撃、回避、装填、武器2本の切替</a:t>
            </a:r>
          </a:p>
        </p:txBody>
      </p:sp>
      <p:sp>
        <p:nvSpPr>
          <p:cNvPr id="9" name="敵の動きに対応する">
            <a:extLst xmlns:a="http://schemas.openxmlformats.org/drawingml/2006/main">
              <a:ext uri="{FF2B5EF4-FFF2-40B4-BE49-F238E27FC236}">
                <a16:creationId xmlns:a16="http://schemas.microsoft.com/office/drawing/2014/main" id="{805EBC1D-5625-4251-B290-CDE02DAD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28975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敵の動きに対応する</a:t>
            </a:r>
          </a:p>
        </p:txBody>
      </p:sp>
      <p:sp>
        <p:nvSpPr>
          <p:cNvPr id="10" name="狙う順番と位置取りで危機を抜ける">
            <a:extLst xmlns:a="http://schemas.openxmlformats.org/drawingml/2006/main">
              <a:ext uri="{FF2B5EF4-FFF2-40B4-BE49-F238E27FC236}">
                <a16:creationId xmlns:a16="http://schemas.microsoft.com/office/drawing/2014/main" id="{9F39CFEC-E071-4A0D-A803-199F2239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9525"/>
            <a:ext cx="527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狙う順番と位置取りで危機を抜ける</a:t>
            </a:r>
          </a:p>
        </p:txBody>
      </p:sp>
      <p:sp>
        <p:nvSpPr>
          <p:cNvPr id="11" name="スワフロの世界を継ぐ">
            <a:extLst xmlns:a="http://schemas.openxmlformats.org/drawingml/2006/main">
              <a:ext uri="{FF2B5EF4-FFF2-40B4-BE49-F238E27FC236}">
                <a16:creationId xmlns:a16="http://schemas.microsoft.com/office/drawing/2014/main" id="{97C3A0CF-E3E6-4241-A29F-42B92560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67250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スワフロの世界を継ぐ</a:t>
            </a:r>
          </a:p>
        </p:txBody>
      </p:sp>
      <p:sp>
        <p:nvSpPr>
          <p:cNvPr id="12" name="兵士、異形の敵、戦場、既存UIを活用">
            <a:extLst xmlns:a="http://schemas.openxmlformats.org/drawingml/2006/main">
              <a:ext uri="{FF2B5EF4-FFF2-40B4-BE49-F238E27FC236}">
                <a16:creationId xmlns:a16="http://schemas.microsoft.com/office/drawing/2014/main" id="{CFDF1004-6816-413C-9CF4-943C3FDE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57800"/>
            <a:ext cx="527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兵士、異形の敵、戦場、既存UIを活用</a:t>
            </a:r>
          </a:p>
        </p:txBody>
      </p:sp>
    </p:spTree>
    <p:extLst>
      <p:ext uri="{BB962C8B-B14F-4D97-AF65-F5344CB8AC3E}">
        <p14:creationId xmlns:p14="http://schemas.microsoft.com/office/powerpoint/2010/main" val="4612358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61008C7D-849A-4989-9B5D-FA406F96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変更点と追加点">
            <a:extLst xmlns:a="http://schemas.openxmlformats.org/drawingml/2006/main">
              <a:ext uri="{FF2B5EF4-FFF2-40B4-BE49-F238E27FC236}">
                <a16:creationId xmlns:a16="http://schemas.microsoft.com/office/drawing/2014/main" id="{926DF08A-32D6-4DCB-B7DD-C189C80A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変更点と追加点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D2E9AE4A-EA45-4FF3-A3D3-22828B60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04 / 28">
            <a:extLst xmlns:a="http://schemas.openxmlformats.org/drawingml/2006/main">
              <a:ext uri="{FF2B5EF4-FFF2-40B4-BE49-F238E27FC236}">
                <a16:creationId xmlns:a16="http://schemas.microsoft.com/office/drawing/2014/main" id="{3FB5C0D3-ED0A-4F6C-8DBC-0CDD4651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04 / 28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647825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762375"/>
                <a:gridCol w="5286375"/>
              </a:tblGrid>
              <a:tr h="682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領域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既存の土台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今回の提案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戦闘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手動TPSと武器切替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操作を起点に連鎖・跳弾・迎撃を追加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成長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所持武器や育成の蓄積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出撃中に最大7回の3択を追加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山場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敵や大型敵との対決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同系統3枚の進化と圧倒区間を追加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遊び方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通常戦闘と日替わり防衛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繰り返せる作戦と防衛比較へ展開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継承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武器庫・セーブ・見た目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原本を保持し、新しい一時強化を分離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9792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3D8528E3-6156-456D-99BB-99747481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1出撃の流れ">
            <a:extLst xmlns:a="http://schemas.openxmlformats.org/drawingml/2006/main">
              <a:ext uri="{FF2B5EF4-FFF2-40B4-BE49-F238E27FC236}">
                <a16:creationId xmlns:a16="http://schemas.microsoft.com/office/drawing/2014/main" id="{85718CF9-6B9E-4BC3-88FF-B82413F7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1出撃の流れ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676FB6C5-8CEF-4D8F-A880-651F0795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05 / 28">
            <a:extLst xmlns:a="http://schemas.openxmlformats.org/drawingml/2006/main">
              <a:ext uri="{FF2B5EF4-FFF2-40B4-BE49-F238E27FC236}">
                <a16:creationId xmlns:a16="http://schemas.microsoft.com/office/drawing/2014/main" id="{D767AC0A-F70D-4235-84AE-50309A43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05 / 28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647825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476750"/>
                <a:gridCol w="4429125"/>
              </a:tblGrid>
              <a:tr h="682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時刻の目安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プレイすること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感じてほしいこと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開始前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武器と最初の強化を選ぶ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今日はこの構成で行こう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最初の90秒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早い強化と初めての連鎖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もう戦い方が変わった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2〜4分台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精鋭に対応し、構成を伸ばす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あと1枚で完成する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4:30〜5:45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進化した能力で群れを処理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さっき苦戦した敵が倒せる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5:45以降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最後の補給を経て大型敵と対決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選んだ構成で勝ち切った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</a:tbl>
          </a:graphicData>
        </a:graphic>
      </p:graphicFrame>
      <p:sp>
        <p:nvSpPr>
          <p:cNvPr id="6" name="戦闘約7分が目標。選択・ロード・撃破速度で実所要は変わる。">
            <a:extLst xmlns:a="http://schemas.openxmlformats.org/drawingml/2006/main">
              <a:ext uri="{FF2B5EF4-FFF2-40B4-BE49-F238E27FC236}">
                <a16:creationId xmlns:a16="http://schemas.microsoft.com/office/drawing/2014/main" id="{C2D955CB-BD06-4D70-9424-52A52B4A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戦闘約7分が目標。選択・ロード・撃破速度で実所要は変わる。</a:t>
            </a:r>
          </a:p>
        </p:txBody>
      </p:sp>
    </p:spTree>
    <p:extLst>
      <p:ext uri="{BB962C8B-B14F-4D97-AF65-F5344CB8AC3E}">
        <p14:creationId xmlns:p14="http://schemas.microsoft.com/office/powerpoint/2010/main" val="18512943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A3B2529F-CBAD-4CD6-9FF9-E1D8D35D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最初の90秒で変化を体験する">
            <a:extLst xmlns:a="http://schemas.openxmlformats.org/drawingml/2006/main">
              <a:ext uri="{FF2B5EF4-FFF2-40B4-BE49-F238E27FC236}">
                <a16:creationId xmlns:a16="http://schemas.microsoft.com/office/drawing/2014/main" id="{0430D26C-BB1F-4512-8DC3-6F5D3B2D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最初の90秒で変化を体験する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BD5D0CC5-FBBE-4730-A103-7222B49C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06 / 28">
            <a:extLst xmlns:a="http://schemas.openxmlformats.org/drawingml/2006/main">
              <a:ext uri="{FF2B5EF4-FFF2-40B4-BE49-F238E27FC236}">
                <a16:creationId xmlns:a16="http://schemas.microsoft.com/office/drawing/2014/main" id="{B4343CDD-4904-41D5-81BD-E469C70E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06 / 28</a:t>
            </a:r>
          </a:p>
        </p:txBody>
      </p:sp>
      <p:sp>
        <p:nvSpPr>
          <p:cNvPr id="5" name="出撃">
            <a:extLst xmlns:a="http://schemas.openxmlformats.org/drawingml/2006/main">
              <a:ext uri="{FF2B5EF4-FFF2-40B4-BE49-F238E27FC236}">
                <a16:creationId xmlns:a16="http://schemas.microsoft.com/office/drawing/2014/main" id="{1AA2A38F-E154-45A2-BFDE-B747EDF9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出撃</a:t>
            </a:r>
          </a:p>
        </p:txBody>
      </p:sp>
      <p:sp>
        <p:nvSpPr>
          <p:cNvPr id="6" name="最初から能力を持つ">
            <a:extLst xmlns:a="http://schemas.openxmlformats.org/drawingml/2006/main">
              <a:ext uri="{FF2B5EF4-FFF2-40B4-BE49-F238E27FC236}">
                <a16:creationId xmlns:a16="http://schemas.microsoft.com/office/drawing/2014/main" id="{AF4364CD-CB2C-4BF7-B9A4-C7EB37DA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3355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最初から能力を持つ</a:t>
            </a:r>
          </a:p>
        </p:txBody>
      </p:sp>
      <p:sp>
        <p:nvSpPr>
          <p:cNvPr id="7" name="初期3択を、そのまま1枚目に数える。">
            <a:extLst xmlns:a="http://schemas.openxmlformats.org/drawingml/2006/main">
              <a:ext uri="{FF2B5EF4-FFF2-40B4-BE49-F238E27FC236}">
                <a16:creationId xmlns:a16="http://schemas.microsoft.com/office/drawing/2014/main" id="{A5B5BFE3-98FF-49FB-BB8D-01F043C3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66950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初期3択を、そのまま1枚目に数える。</a:t>
            </a:r>
          </a:p>
        </p:txBody>
      </p:sp>
      <p:sp>
        <p:nvSpPr>
          <p:cNvPr id="8" name="初撃破">
            <a:extLst xmlns:a="http://schemas.openxmlformats.org/drawingml/2006/main">
              <a:ext uri="{FF2B5EF4-FFF2-40B4-BE49-F238E27FC236}">
                <a16:creationId xmlns:a16="http://schemas.microsoft.com/office/drawing/2014/main" id="{9E8388E8-EA8B-434C-B1C8-CF96DB15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初撃破</a:t>
            </a:r>
          </a:p>
        </p:txBody>
      </p:sp>
      <p:sp>
        <p:nvSpPr>
          <p:cNvPr id="9" name="撃った敵が小爆発する">
            <a:extLst xmlns:a="http://schemas.openxmlformats.org/drawingml/2006/main">
              <a:ext uri="{FF2B5EF4-FFF2-40B4-BE49-F238E27FC236}">
                <a16:creationId xmlns:a16="http://schemas.microsoft.com/office/drawing/2014/main" id="{A3982CDF-7687-43CE-841C-8D8B143B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95625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撃った敵が小爆発する</a:t>
            </a:r>
          </a:p>
        </p:txBody>
      </p:sp>
      <p:sp>
        <p:nvSpPr>
          <p:cNvPr id="10" name="取得した効果と結果がすぐ結び付く。">
            <a:extLst xmlns:a="http://schemas.openxmlformats.org/drawingml/2006/main">
              <a:ext uri="{FF2B5EF4-FFF2-40B4-BE49-F238E27FC236}">
                <a16:creationId xmlns:a16="http://schemas.microsoft.com/office/drawing/2014/main" id="{F5F97999-A075-4B29-8580-EFCEE0F8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29025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取得した効果と結果がすぐ結び付く。</a:t>
            </a:r>
          </a:p>
        </p:txBody>
      </p:sp>
      <p:sp>
        <p:nvSpPr>
          <p:cNvPr id="11" name="追加強化">
            <a:extLst xmlns:a="http://schemas.openxmlformats.org/drawingml/2006/main">
              <a:ext uri="{FF2B5EF4-FFF2-40B4-BE49-F238E27FC236}">
                <a16:creationId xmlns:a16="http://schemas.microsoft.com/office/drawing/2014/main" id="{3B57A65E-5E59-4D68-852F-18158676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追加強化</a:t>
            </a:r>
          </a:p>
        </p:txBody>
      </p:sp>
      <p:sp>
        <p:nvSpPr>
          <p:cNvPr id="12" name="次の狙い方を試す">
            <a:extLst xmlns:a="http://schemas.openxmlformats.org/drawingml/2006/main">
              <a:ext uri="{FF2B5EF4-FFF2-40B4-BE49-F238E27FC236}">
                <a16:creationId xmlns:a16="http://schemas.microsoft.com/office/drawing/2014/main" id="{B21903D1-80A5-4C6E-9EC5-A5FB0F9D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5770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次の狙い方を試す</a:t>
            </a:r>
          </a:p>
        </p:txBody>
      </p:sp>
      <p:sp>
        <p:nvSpPr>
          <p:cNvPr id="13" name="群れの中心や印付きの敵へ狙いを変える。">
            <a:extLst xmlns:a="http://schemas.openxmlformats.org/drawingml/2006/main">
              <a:ext uri="{FF2B5EF4-FFF2-40B4-BE49-F238E27FC236}">
                <a16:creationId xmlns:a16="http://schemas.microsoft.com/office/drawing/2014/main" id="{8463F527-06B9-4E2D-95C8-66783C2B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91100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群れの中心や印付きの敵へ狙いを変える。</a:t>
            </a:r>
          </a:p>
        </p:txBody>
      </p:sp>
      <p:sp>
        <p:nvSpPr>
          <p:cNvPr id="14" name="XPの到達時刻は試遊で調整。早い強化を実現できるかを測る。">
            <a:extLst xmlns:a="http://schemas.openxmlformats.org/drawingml/2006/main">
              <a:ext uri="{FF2B5EF4-FFF2-40B4-BE49-F238E27FC236}">
                <a16:creationId xmlns:a16="http://schemas.microsoft.com/office/drawing/2014/main" id="{16E1BCB0-17FE-4736-B06C-0CF9B9D8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XPの到達時刻は試遊で調整。早い強化を実現できるかを測る。</a:t>
            </a:r>
          </a:p>
        </p:txBody>
      </p:sp>
    </p:spTree>
    <p:extLst>
      <p:ext uri="{BB962C8B-B14F-4D97-AF65-F5344CB8AC3E}">
        <p14:creationId xmlns:p14="http://schemas.microsoft.com/office/powerpoint/2010/main" val="12007403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5ED0534D-8E93-4B29-8882-C0218E04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3択に、選ぶ理由を作る">
            <a:extLst xmlns:a="http://schemas.openxmlformats.org/drawingml/2006/main">
              <a:ext uri="{FF2B5EF4-FFF2-40B4-BE49-F238E27FC236}">
                <a16:creationId xmlns:a16="http://schemas.microsoft.com/office/drawing/2014/main" id="{1145B22C-2A70-4E29-BAEF-B81A479F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3択に、選ぶ理由を作る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6342F01E-C483-43F6-913B-448AC9AF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07 / 28">
            <a:extLst xmlns:a="http://schemas.openxmlformats.org/drawingml/2006/main">
              <a:ext uri="{FF2B5EF4-FFF2-40B4-BE49-F238E27FC236}">
                <a16:creationId xmlns:a16="http://schemas.microsoft.com/office/drawing/2014/main" id="{A9D7BA91-8558-4594-B99F-2CA3F992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07 / 28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647825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4191000"/>
                <a:gridCol w="4238625"/>
              </a:tblGrid>
              <a:tr h="857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今の構成：誘爆核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選んだ後の変化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選びたくなる状況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導火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印を起爆し、爆発の連携を伸ばす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まず爆発系を完成させたい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整備手順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装填時間を短くする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撃てない時間が苦しい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徹甲芯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弾が抜ける対象を増やす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射線に敵を並べて倒したい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</a:tbl>
          </a:graphicData>
        </a:graphic>
      </p:graphicFrame>
      <p:sp>
        <p:nvSpPr>
          <p:cNvPr id="6" name="候補例。装備との適合を確認し、有効な3種類だけを提示する。">
            <a:extLst xmlns:a="http://schemas.openxmlformats.org/drawingml/2006/main">
              <a:ext uri="{FF2B5EF4-FFF2-40B4-BE49-F238E27FC236}">
                <a16:creationId xmlns:a16="http://schemas.microsoft.com/office/drawing/2014/main" id="{D2D6B68F-7101-4F94-8979-508CE80C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候補例。装備との適合を確認し、有効な3種類だけを提示する。</a:t>
            </a:r>
          </a:p>
        </p:txBody>
      </p:sp>
    </p:spTree>
    <p:extLst>
      <p:ext uri="{BB962C8B-B14F-4D97-AF65-F5344CB8AC3E}">
        <p14:creationId xmlns:p14="http://schemas.microsoft.com/office/powerpoint/2010/main" val="18788358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80C6941D-7FE2-46A6-84B4-E84B9D6E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3枚で進化する仕組み">
            <a:extLst xmlns:a="http://schemas.openxmlformats.org/drawingml/2006/main">
              <a:ext uri="{FF2B5EF4-FFF2-40B4-BE49-F238E27FC236}">
                <a16:creationId xmlns:a16="http://schemas.microsoft.com/office/drawing/2014/main" id="{8E1D6CBF-587E-42ED-8072-01D0EEE8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3枚で進化する仕組み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F199DF91-47D9-4B01-BEB3-23BDEE4C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08 / 28">
            <a:extLst xmlns:a="http://schemas.openxmlformats.org/drawingml/2006/main">
              <a:ext uri="{FF2B5EF4-FFF2-40B4-BE49-F238E27FC236}">
                <a16:creationId xmlns:a16="http://schemas.microsoft.com/office/drawing/2014/main" id="{8BDD6284-FB82-4E64-93EB-4EB058D9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08 / 28</a:t>
            </a:r>
          </a:p>
        </p:txBody>
      </p:sp>
      <p:sp>
        <p:nvSpPr>
          <p:cNvPr id="5" name="同じ系統を3枚&#10;追加能力が自動解放">
            <a:extLst xmlns:a="http://schemas.openxmlformats.org/drawingml/2006/main">
              <a:ext uri="{FF2B5EF4-FFF2-40B4-BE49-F238E27FC236}">
                <a16:creationId xmlns:a16="http://schemas.microsoft.com/office/drawing/2014/main" id="{0E838AB4-6F97-481C-874A-CB9C28C7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108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B177"/>
                </a:solidFill>
                <a:latin typeface="Yu Gothic"/>
                <a:ea typeface="Yu Gothic"/>
                <a:cs typeface="Yu Gothic"/>
              </a:defRPr>
            </a:pPr>
            <a:r>
              <a:rPr sz="5100" b="1">
                <a:solidFill>
                  <a:srgbClr val="FFB177"/>
                </a:solidFill>
                <a:latin typeface="Yu Gothic"/>
                <a:ea typeface="Yu Gothic"/>
                <a:cs typeface="Yu Gothic"/>
              </a:rPr>
              <a:t>同じ系統を3枚</a:t>
            </a:r>
          </a:p>
          <a:p xmlns:a="http://schemas.openxmlformats.org/drawingml/2006/main">
            <a:pPr>
              <a:defRPr sz="5100" b="1">
                <a:solidFill>
                  <a:srgbClr val="FFB177"/>
                </a:solidFill>
                <a:latin typeface="Yu Gothic"/>
                <a:ea typeface="Yu Gothic"/>
                <a:cs typeface="Yu Gothic"/>
              </a:defRPr>
            </a:pPr>
            <a:r>
              <a:rPr sz="5100" b="1">
                <a:solidFill>
                  <a:srgbClr val="FFB177"/>
                </a:solidFill>
                <a:latin typeface="Yu Gothic"/>
                <a:ea typeface="Yu Gothic"/>
                <a:cs typeface="Yu Gothic"/>
              </a:rPr>
              <a:t>追加能力が自動解放</a:t>
            </a:r>
          </a:p>
        </p:txBody>
      </p:sp>
      <p:sp>
        <p:nvSpPr>
          <p:cNvPr id="6" name="2枚そろったら、残り1枚を毎回候補に出す。&#10;見送る自由を残し、完">
            <a:extLst xmlns:a="http://schemas.openxmlformats.org/drawingml/2006/main">
              <a:ext uri="{FF2B5EF4-FFF2-40B4-BE49-F238E27FC236}">
                <a16:creationId xmlns:a16="http://schemas.microsoft.com/office/drawing/2014/main" id="{CA31B94E-6BBC-4DDF-A3EB-E2DDE467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2枚そろったら、残り1枚を毎回候補に出す。</a:t>
            </a:r>
          </a:p>
          <a:p xmlns:a="http://schemas.openxmlformats.org/drawingml/2006/main">
            <a:pPr>
              <a:defRPr sz="2250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見送る自由を残し、完成を抽選運だけに任せない。</a:t>
            </a:r>
          </a:p>
        </p:txBody>
      </p:sp>
      <p:sp>
        <p:nvSpPr>
          <p:cNvPr id="7" name="初期カードも1枚目。3系統版は最大2進化を想定。">
            <a:extLst xmlns:a="http://schemas.openxmlformats.org/drawingml/2006/main">
              <a:ext uri="{FF2B5EF4-FFF2-40B4-BE49-F238E27FC236}">
                <a16:creationId xmlns:a16="http://schemas.microsoft.com/office/drawing/2014/main" id="{078BFF88-D5D6-446F-9DE4-73500492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初期カードも1枚目。3系統版は最大2進化を想定。</a:t>
            </a:r>
          </a:p>
        </p:txBody>
      </p:sp>
    </p:spTree>
    <p:extLst>
      <p:ext uri="{BB962C8B-B14F-4D97-AF65-F5344CB8AC3E}">
        <p14:creationId xmlns:p14="http://schemas.microsoft.com/office/powerpoint/2010/main" val="6004659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50E0D0F8-8AE7-40BB-BAD3-386C4AC9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連鎖爆発">
            <a:extLst xmlns:a="http://schemas.openxmlformats.org/drawingml/2006/main">
              <a:ext uri="{FF2B5EF4-FFF2-40B4-BE49-F238E27FC236}">
                <a16:creationId xmlns:a16="http://schemas.microsoft.com/office/drawing/2014/main" id="{75852DBE-0F70-4BFE-A9A5-A026A18D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連鎖爆発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6B55E943-A218-4A6F-B6BC-CA44A04C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09 / 28">
            <a:extLst xmlns:a="http://schemas.openxmlformats.org/drawingml/2006/main">
              <a:ext uri="{FF2B5EF4-FFF2-40B4-BE49-F238E27FC236}">
                <a16:creationId xmlns:a16="http://schemas.microsoft.com/office/drawing/2014/main" id="{9339D1F1-390C-4191-B0E6-BCD1CCC0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09 / 28</a:t>
            </a:r>
          </a:p>
        </p:txBody>
      </p:sp>
      <p:sp>
        <p:nvSpPr>
          <p:cNvPr id="5" name="最初に狙う敵が、群れの崩れ方を変える">
            <a:extLst xmlns:a="http://schemas.openxmlformats.org/drawingml/2006/main">
              <a:ext uri="{FF2B5EF4-FFF2-40B4-BE49-F238E27FC236}">
                <a16:creationId xmlns:a16="http://schemas.microsoft.com/office/drawing/2014/main" id="{4A1CFBB2-965A-42D9-B0DB-7F8AB3D9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B177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B177"/>
                </a:solidFill>
                <a:latin typeface="Yu Gothic"/>
                <a:ea typeface="Yu Gothic"/>
                <a:cs typeface="Yu Gothic"/>
              </a:rPr>
              <a:t>最初に狙う敵が、群れの崩れ方を変える</a:t>
            </a:r>
          </a:p>
        </p:txBody>
      </p:sp>
      <p:sp>
        <p:nvSpPr>
          <p:cNvPr id="6" name="誘爆核">
            <a:extLst xmlns:a="http://schemas.openxmlformats.org/drawingml/2006/main">
              <a:ext uri="{FF2B5EF4-FFF2-40B4-BE49-F238E27FC236}">
                <a16:creationId xmlns:a16="http://schemas.microsoft.com/office/drawing/2014/main" id="{B22CA64F-DE95-4582-8734-F94B4839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誘爆核</a:t>
            </a:r>
          </a:p>
        </p:txBody>
      </p:sp>
      <p:sp>
        <p:nvSpPr>
          <p:cNvPr id="7" name="手動射撃で倒した敵が小爆発">
            <a:extLst xmlns:a="http://schemas.openxmlformats.org/drawingml/2006/main">
              <a:ext uri="{FF2B5EF4-FFF2-40B4-BE49-F238E27FC236}">
                <a16:creationId xmlns:a16="http://schemas.microsoft.com/office/drawing/2014/main" id="{C9DABA9F-A962-4980-A9BA-272469EE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24100"/>
            <a:ext cx="721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手動射撃で倒した敵が小爆発</a:t>
            </a:r>
          </a:p>
        </p:txBody>
      </p:sp>
      <p:sp>
        <p:nvSpPr>
          <p:cNvPr id="8" name="導火">
            <a:extLst xmlns:a="http://schemas.openxmlformats.org/drawingml/2006/main">
              <a:ext uri="{FF2B5EF4-FFF2-40B4-BE49-F238E27FC236}">
                <a16:creationId xmlns:a16="http://schemas.microsoft.com/office/drawing/2014/main" id="{6FF036C7-406C-4C57-9C24-7E22490D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導火</a:t>
            </a:r>
          </a:p>
        </p:txBody>
      </p:sp>
      <p:sp>
        <p:nvSpPr>
          <p:cNvPr id="9" name="印を付け、次の手動命中で起爆">
            <a:extLst xmlns:a="http://schemas.openxmlformats.org/drawingml/2006/main">
              <a:ext uri="{FF2B5EF4-FFF2-40B4-BE49-F238E27FC236}">
                <a16:creationId xmlns:a16="http://schemas.microsoft.com/office/drawing/2014/main" id="{DA69C011-C87F-4A83-8C04-F04F4F6F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721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印を付け、次の手動命中で起爆</a:t>
            </a:r>
          </a:p>
        </p:txBody>
      </p:sp>
      <p:sp>
        <p:nvSpPr>
          <p:cNvPr id="10" name="圧縮炸薬">
            <a:extLst xmlns:a="http://schemas.openxmlformats.org/drawingml/2006/main">
              <a:ext uri="{FF2B5EF4-FFF2-40B4-BE49-F238E27FC236}">
                <a16:creationId xmlns:a16="http://schemas.microsoft.com/office/drawing/2014/main" id="{F5342E61-10A5-4FC3-9AB2-53B0FAB7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圧縮炸薬</a:t>
            </a:r>
          </a:p>
        </p:txBody>
      </p:sp>
      <p:sp>
        <p:nvSpPr>
          <p:cNvPr id="11" name="連続命中で爆発を起こし、広げる">
            <a:extLst xmlns:a="http://schemas.openxmlformats.org/drawingml/2006/main">
              <a:ext uri="{FF2B5EF4-FFF2-40B4-BE49-F238E27FC236}">
                <a16:creationId xmlns:a16="http://schemas.microsoft.com/office/drawing/2014/main" id="{A0DC1C9D-7B83-4617-B546-B7A491C7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6200"/>
            <a:ext cx="721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連続命中で爆発を起こし、広げる</a:t>
            </a:r>
          </a:p>
        </p:txBody>
      </p:sp>
      <p:sp>
        <p:nvSpPr>
          <p:cNvPr id="12" name="進化：連鎖崩落">
            <a:extLst xmlns:a="http://schemas.openxmlformats.org/drawingml/2006/main">
              <a:ext uri="{FF2B5EF4-FFF2-40B4-BE49-F238E27FC236}">
                <a16:creationId xmlns:a16="http://schemas.microsoft.com/office/drawing/2014/main" id="{13347335-DBB7-4F8E-9F53-DCDB72B1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B177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FB177"/>
                </a:solidFill>
                <a:latin typeface="Yu Gothic"/>
                <a:ea typeface="Yu Gothic"/>
                <a:cs typeface="Yu Gothic"/>
              </a:rPr>
              <a:t>進化：連鎖崩落</a:t>
            </a:r>
          </a:p>
        </p:txBody>
      </p:sp>
      <p:sp>
        <p:nvSpPr>
          <p:cNvPr id="13" name="印の起爆が周囲へ伝わる">
            <a:extLst xmlns:a="http://schemas.openxmlformats.org/drawingml/2006/main">
              <a:ext uri="{FF2B5EF4-FFF2-40B4-BE49-F238E27FC236}">
                <a16:creationId xmlns:a16="http://schemas.microsoft.com/office/drawing/2014/main" id="{17E306F3-DD25-4BF3-8638-1F7884E5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21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印の起爆が周囲へ伝わる</a:t>
            </a:r>
          </a:p>
        </p:txBody>
      </p:sp>
      <p:sp>
        <p:nvSpPr>
          <p:cNvPr id="14" name="自分の一発で、画面の状況が一気に変わる">
            <a:extLst xmlns:a="http://schemas.openxmlformats.org/drawingml/2006/main">
              <a:ext uri="{FF2B5EF4-FFF2-40B4-BE49-F238E27FC236}">
                <a16:creationId xmlns:a16="http://schemas.microsoft.com/office/drawing/2014/main" id="{D2919074-E136-4410-9F75-8D9B63A2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245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B177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B177"/>
                </a:solidFill>
                <a:latin typeface="Yu Gothic"/>
                <a:ea typeface="Yu Gothic"/>
                <a:cs typeface="Yu Gothic"/>
              </a:rPr>
              <a:t>自分の一発で、画面の状況が一気に変わる</a:t>
            </a:r>
          </a:p>
        </p:txBody>
      </p:sp>
    </p:spTree>
    <p:extLst>
      <p:ext uri="{BB962C8B-B14F-4D97-AF65-F5344CB8AC3E}">
        <p14:creationId xmlns:p14="http://schemas.microsoft.com/office/powerpoint/2010/main" val="264623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64C5D219-859C-4C44-B0E8-2B134E19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貫通・跳弾">
            <a:extLst xmlns:a="http://schemas.openxmlformats.org/drawingml/2006/main">
              <a:ext uri="{FF2B5EF4-FFF2-40B4-BE49-F238E27FC236}">
                <a16:creationId xmlns:a16="http://schemas.microsoft.com/office/drawing/2014/main" id="{0BF65F6E-2820-4EFD-A10D-88D437DF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貫通・跳弾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F11C969E-F18A-4AC1-BBED-12E2624D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10 / 28">
            <a:extLst xmlns:a="http://schemas.openxmlformats.org/drawingml/2006/main">
              <a:ext uri="{FF2B5EF4-FFF2-40B4-BE49-F238E27FC236}">
                <a16:creationId xmlns:a16="http://schemas.microsoft.com/office/drawing/2014/main" id="{90CA9EA8-8F95-400B-9E7B-C9D33487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10 / 28</a:t>
            </a:r>
          </a:p>
        </p:txBody>
      </p:sp>
      <p:sp>
        <p:nvSpPr>
          <p:cNvPr id="5" name="敵を射線に並べるほど、一発の価値が増す">
            <a:extLst xmlns:a="http://schemas.openxmlformats.org/drawingml/2006/main">
              <a:ext uri="{FF2B5EF4-FFF2-40B4-BE49-F238E27FC236}">
                <a16:creationId xmlns:a16="http://schemas.microsoft.com/office/drawing/2014/main" id="{75790C72-77F1-4FE8-891A-8708B1EB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7D7F2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87D7F2"/>
                </a:solidFill>
                <a:latin typeface="Yu Gothic"/>
                <a:ea typeface="Yu Gothic"/>
                <a:cs typeface="Yu Gothic"/>
              </a:rPr>
              <a:t>敵を射線に並べるほど、一発の価値が増す</a:t>
            </a:r>
          </a:p>
        </p:txBody>
      </p:sp>
      <p:sp>
        <p:nvSpPr>
          <p:cNvPr id="6" name="徹甲芯">
            <a:extLst xmlns:a="http://schemas.openxmlformats.org/drawingml/2006/main">
              <a:ext uri="{FF2B5EF4-FFF2-40B4-BE49-F238E27FC236}">
                <a16:creationId xmlns:a16="http://schemas.microsoft.com/office/drawing/2014/main" id="{ECAEE475-2BA4-4C8C-A671-2CB55F0F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徹甲芯</a:t>
            </a:r>
          </a:p>
        </p:txBody>
      </p:sp>
      <p:sp>
        <p:nvSpPr>
          <p:cNvPr id="7" name="手動弾が通り抜ける対象を増やす">
            <a:extLst xmlns:a="http://schemas.openxmlformats.org/drawingml/2006/main">
              <a:ext uri="{FF2B5EF4-FFF2-40B4-BE49-F238E27FC236}">
                <a16:creationId xmlns:a16="http://schemas.microsoft.com/office/drawing/2014/main" id="{E65F6FE3-D8BE-4025-B481-11C04906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24100"/>
            <a:ext cx="721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手動弾が通り抜ける対象を増やす</a:t>
            </a:r>
          </a:p>
        </p:txBody>
      </p:sp>
      <p:sp>
        <p:nvSpPr>
          <p:cNvPr id="8" name="反射弾">
            <a:extLst xmlns:a="http://schemas.openxmlformats.org/drawingml/2006/main">
              <a:ext uri="{FF2B5EF4-FFF2-40B4-BE49-F238E27FC236}">
                <a16:creationId xmlns:a16="http://schemas.microsoft.com/office/drawing/2014/main" id="{842CB430-B709-4CE4-9C92-D69D8AE5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反射弾</a:t>
            </a:r>
          </a:p>
        </p:txBody>
      </p:sp>
      <p:sp>
        <p:nvSpPr>
          <p:cNvPr id="9" name="連続命中から、別の敵へ1回跳弾">
            <a:extLst xmlns:a="http://schemas.openxmlformats.org/drawingml/2006/main">
              <a:ext uri="{FF2B5EF4-FFF2-40B4-BE49-F238E27FC236}">
                <a16:creationId xmlns:a16="http://schemas.microsoft.com/office/drawing/2014/main" id="{AF3D605D-F811-48B7-9021-EC65BA83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721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連続命中から、別の敵へ1回跳弾</a:t>
            </a:r>
          </a:p>
        </p:txBody>
      </p:sp>
      <p:sp>
        <p:nvSpPr>
          <p:cNvPr id="10" name="整列射">
            <a:extLst xmlns:a="http://schemas.openxmlformats.org/drawingml/2006/main">
              <a:ext uri="{FF2B5EF4-FFF2-40B4-BE49-F238E27FC236}">
                <a16:creationId xmlns:a16="http://schemas.microsoft.com/office/drawing/2014/main" id="{1EF93C31-C1E3-4757-9D84-D791701D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整列射</a:t>
            </a:r>
          </a:p>
        </p:txBody>
      </p:sp>
      <p:sp>
        <p:nvSpPr>
          <p:cNvPr id="11" name="複数体を貫くと弾を1発返す">
            <a:extLst xmlns:a="http://schemas.openxmlformats.org/drawingml/2006/main">
              <a:ext uri="{FF2B5EF4-FFF2-40B4-BE49-F238E27FC236}">
                <a16:creationId xmlns:a16="http://schemas.microsoft.com/office/drawing/2014/main" id="{813E013F-5122-465E-AE08-6B00CDC1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6200"/>
            <a:ext cx="721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複数体を貫くと弾を1発返す</a:t>
            </a:r>
          </a:p>
        </p:txBody>
      </p:sp>
      <p:sp>
        <p:nvSpPr>
          <p:cNvPr id="12" name="進化：串刺し">
            <a:extLst xmlns:a="http://schemas.openxmlformats.org/drawingml/2006/main">
              <a:ext uri="{FF2B5EF4-FFF2-40B4-BE49-F238E27FC236}">
                <a16:creationId xmlns:a16="http://schemas.microsoft.com/office/drawing/2014/main" id="{6E12ED5B-BF2B-4C55-99BE-7DBC18DB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7D7F2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87D7F2"/>
                </a:solidFill>
                <a:latin typeface="Yu Gothic"/>
                <a:ea typeface="Yu Gothic"/>
                <a:cs typeface="Yu Gothic"/>
              </a:rPr>
              <a:t>進化：串刺し</a:t>
            </a:r>
          </a:p>
        </p:txBody>
      </p:sp>
      <p:sp>
        <p:nvSpPr>
          <p:cNvPr id="13" name="跳弾撃破が、次の手動弾を強化">
            <a:extLst xmlns:a="http://schemas.openxmlformats.org/drawingml/2006/main">
              <a:ext uri="{FF2B5EF4-FFF2-40B4-BE49-F238E27FC236}">
                <a16:creationId xmlns:a16="http://schemas.microsoft.com/office/drawing/2014/main" id="{E67D3331-7F80-434F-8E87-9125C6F3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21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跳弾撃破が、次の手動弾を強化</a:t>
            </a:r>
          </a:p>
        </p:txBody>
      </p:sp>
      <p:sp>
        <p:nvSpPr>
          <p:cNvPr id="14" name="位置取りと狙いの上達を、火力で実感する">
            <a:extLst xmlns:a="http://schemas.openxmlformats.org/drawingml/2006/main">
              <a:ext uri="{FF2B5EF4-FFF2-40B4-BE49-F238E27FC236}">
                <a16:creationId xmlns:a16="http://schemas.microsoft.com/office/drawing/2014/main" id="{C4DA55A4-84BA-490C-9EA2-237380E0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245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7D7F2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87D7F2"/>
                </a:solidFill>
                <a:latin typeface="Yu Gothic"/>
                <a:ea typeface="Yu Gothic"/>
                <a:cs typeface="Yu Gothic"/>
              </a:rPr>
              <a:t>位置取りと狙いの上達を、火力で実感する</a:t>
            </a:r>
          </a:p>
        </p:txBody>
      </p:sp>
    </p:spTree>
    <p:extLst>
      <p:ext uri="{BB962C8B-B14F-4D97-AF65-F5344CB8AC3E}">
        <p14:creationId xmlns:p14="http://schemas.microsoft.com/office/powerpoint/2010/main" val="10664038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F0FA483C-D95B-4218-9384-25642A4E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回避・迎撃">
            <a:extLst xmlns:a="http://schemas.openxmlformats.org/drawingml/2006/main">
              <a:ext uri="{FF2B5EF4-FFF2-40B4-BE49-F238E27FC236}">
                <a16:creationId xmlns:a16="http://schemas.microsoft.com/office/drawing/2014/main" id="{0DB6EA8E-A3F7-4B3C-825F-22104674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回避・迎撃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FAB13477-955D-4191-AD9E-4B4B6574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11 / 28">
            <a:extLst xmlns:a="http://schemas.openxmlformats.org/drawingml/2006/main">
              <a:ext uri="{FF2B5EF4-FFF2-40B4-BE49-F238E27FC236}">
                <a16:creationId xmlns:a16="http://schemas.microsoft.com/office/drawing/2014/main" id="{1FF02516-CF12-4278-A721-8F530C78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11 / 28</a:t>
            </a:r>
          </a:p>
        </p:txBody>
      </p:sp>
      <p:sp>
        <p:nvSpPr>
          <p:cNvPr id="5" name="危機をしのぐ動きが、反撃の準備になる">
            <a:extLst xmlns:a="http://schemas.openxmlformats.org/drawingml/2006/main">
              <a:ext uri="{FF2B5EF4-FFF2-40B4-BE49-F238E27FC236}">
                <a16:creationId xmlns:a16="http://schemas.microsoft.com/office/drawing/2014/main" id="{F37B1CCE-3D69-4E3B-868C-5C86FCCD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危機をしのぐ動きが、反撃の準備になる</a:t>
            </a:r>
          </a:p>
        </p:txBody>
      </p:sp>
      <p:sp>
        <p:nvSpPr>
          <p:cNvPr id="6" name="残像地雷">
            <a:extLst xmlns:a="http://schemas.openxmlformats.org/drawingml/2006/main">
              <a:ext uri="{FF2B5EF4-FFF2-40B4-BE49-F238E27FC236}">
                <a16:creationId xmlns:a16="http://schemas.microsoft.com/office/drawing/2014/main" id="{5101ED55-77A4-492D-8F36-60A87910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残像地雷</a:t>
            </a:r>
          </a:p>
        </p:txBody>
      </p:sp>
      <p:sp>
        <p:nvSpPr>
          <p:cNvPr id="7" name="回避の終点に地雷を残す">
            <a:extLst xmlns:a="http://schemas.openxmlformats.org/drawingml/2006/main">
              <a:ext uri="{FF2B5EF4-FFF2-40B4-BE49-F238E27FC236}">
                <a16:creationId xmlns:a16="http://schemas.microsoft.com/office/drawing/2014/main" id="{7746D3E8-7259-43B9-BCD7-FD29E163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24100"/>
            <a:ext cx="721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回避の終点に地雷を残す</a:t>
            </a:r>
          </a:p>
        </p:txBody>
      </p:sp>
      <p:sp>
        <p:nvSpPr>
          <p:cNvPr id="8" name="戦術装填">
            <a:extLst xmlns:a="http://schemas.openxmlformats.org/drawingml/2006/main">
              <a:ext uri="{FF2B5EF4-FFF2-40B4-BE49-F238E27FC236}">
                <a16:creationId xmlns:a16="http://schemas.microsoft.com/office/drawing/2014/main" id="{8AFE43F5-6E6F-476A-B97D-2864459E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戦術装填</a:t>
            </a:r>
          </a:p>
        </p:txBody>
      </p:sp>
      <p:sp>
        <p:nvSpPr>
          <p:cNvPr id="9" name="回避後の次の装填を短縮">
            <a:extLst xmlns:a="http://schemas.openxmlformats.org/drawingml/2006/main">
              <a:ext uri="{FF2B5EF4-FFF2-40B4-BE49-F238E27FC236}">
                <a16:creationId xmlns:a16="http://schemas.microsoft.com/office/drawing/2014/main" id="{BCCF77D6-B4B7-47C1-81BB-06F37D26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721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回避後の次の装填を短縮</a:t>
            </a:r>
          </a:p>
        </p:txBody>
      </p:sp>
      <p:sp>
        <p:nvSpPr>
          <p:cNvPr id="10" name="迎撃子機">
            <a:extLst xmlns:a="http://schemas.openxmlformats.org/drawingml/2006/main">
              <a:ext uri="{FF2B5EF4-FFF2-40B4-BE49-F238E27FC236}">
                <a16:creationId xmlns:a16="http://schemas.microsoft.com/office/drawing/2014/main" id="{AFE9615F-1015-4642-ADCA-193C1977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迎撃子機</a:t>
            </a:r>
          </a:p>
        </p:txBody>
      </p:sp>
      <p:sp>
        <p:nvSpPr>
          <p:cNvPr id="11" name="手動命中で準備し、装填中を援護">
            <a:extLst xmlns:a="http://schemas.openxmlformats.org/drawingml/2006/main">
              <a:ext uri="{FF2B5EF4-FFF2-40B4-BE49-F238E27FC236}">
                <a16:creationId xmlns:a16="http://schemas.microsoft.com/office/drawing/2014/main" id="{0B49298B-8A4A-47E5-B865-119C1F6C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6200"/>
            <a:ext cx="721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手動命中で準備し、装填中を援護</a:t>
            </a:r>
          </a:p>
        </p:txBody>
      </p:sp>
      <p:sp>
        <p:nvSpPr>
          <p:cNvPr id="12" name="進化：反撃線">
            <a:extLst xmlns:a="http://schemas.openxmlformats.org/drawingml/2006/main">
              <a:ext uri="{FF2B5EF4-FFF2-40B4-BE49-F238E27FC236}">
                <a16:creationId xmlns:a16="http://schemas.microsoft.com/office/drawing/2014/main" id="{08F6F9F0-21F1-4F73-AAEF-3BDC5CA0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進化：反撃線</a:t>
            </a:r>
          </a:p>
        </p:txBody>
      </p:sp>
      <p:sp>
        <p:nvSpPr>
          <p:cNvPr id="13" name="地雷起爆後、次の手動命中で追撃">
            <a:extLst xmlns:a="http://schemas.openxmlformats.org/drawingml/2006/main">
              <a:ext uri="{FF2B5EF4-FFF2-40B4-BE49-F238E27FC236}">
                <a16:creationId xmlns:a16="http://schemas.microsoft.com/office/drawing/2014/main" id="{53165302-A874-4400-83C3-BF39454A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21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地雷起爆後、次の手動命中で追撃</a:t>
            </a:r>
          </a:p>
        </p:txBody>
      </p:sp>
      <p:sp>
        <p:nvSpPr>
          <p:cNvPr id="14" name="逃げ切った直後に、自分の反撃が返ってくる">
            <a:extLst xmlns:a="http://schemas.openxmlformats.org/drawingml/2006/main">
              <a:ext uri="{FF2B5EF4-FFF2-40B4-BE49-F238E27FC236}">
                <a16:creationId xmlns:a16="http://schemas.microsoft.com/office/drawing/2014/main" id="{13B7E183-7CDD-4E4D-8AF2-7046236D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245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逃げ切った直後に、自分の反撃が返ってくる</a:t>
            </a:r>
          </a:p>
        </p:txBody>
      </p:sp>
    </p:spTree>
    <p:extLst>
      <p:ext uri="{BB962C8B-B14F-4D97-AF65-F5344CB8AC3E}">
        <p14:creationId xmlns:p14="http://schemas.microsoft.com/office/powerpoint/2010/main" val="19617813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FAE1C611-7609-44A6-AD05-A0E64AF3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7回の選択で、2つの進化を狙う">
            <a:extLst xmlns:a="http://schemas.openxmlformats.org/drawingml/2006/main">
              <a:ext uri="{FF2B5EF4-FFF2-40B4-BE49-F238E27FC236}">
                <a16:creationId xmlns:a16="http://schemas.microsoft.com/office/drawing/2014/main" id="{C66B98D7-FC8B-4593-835F-9759903C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7回の選択で、2つの進化を狙う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4780EA4B-552E-4461-A9DC-23A331B2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12 / 28">
            <a:extLst xmlns:a="http://schemas.openxmlformats.org/drawingml/2006/main">
              <a:ext uri="{FF2B5EF4-FFF2-40B4-BE49-F238E27FC236}">
                <a16:creationId xmlns:a16="http://schemas.microsoft.com/office/drawing/2014/main" id="{0418CDE0-9EFF-4925-9466-8EA8AF20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12 / 28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647825"/>
          <a:ext xmlns:a="http://schemas.openxmlformats.org/drawingml/2006/main" cx="108585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4429125"/>
                <a:gridCol w="5095875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取得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選ぶカードの例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構成の変化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1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誘爆核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初期カードから爆発を使う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2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導火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狙う敵に印を作る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3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圧縮炸薬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爆発系が進化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4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徹甲芯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貫通系を始める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5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反射弾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別の敵への跳弾を加える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6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整列射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貫通系も進化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7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整備手順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最後に装填の弱点を補う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</a:tbl>
          </a:graphicData>
        </a:graphic>
      </p:graphicFrame>
      <p:sp>
        <p:nvSpPr>
          <p:cNvPr id="6" name="選択例。XP不足や別の選び方で7取得・2進化に届かない場合もある">
            <a:extLst xmlns:a="http://schemas.openxmlformats.org/drawingml/2006/main">
              <a:ext uri="{FF2B5EF4-FFF2-40B4-BE49-F238E27FC236}">
                <a16:creationId xmlns:a16="http://schemas.microsoft.com/office/drawing/2014/main" id="{F55FBB0C-9E6A-41FD-BB1E-535CFABF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選択例。XP不足や別の選び方で7取得・2進化に届かない場合もある。</a:t>
            </a:r>
          </a:p>
        </p:txBody>
      </p:sp>
    </p:spTree>
    <p:extLst>
      <p:ext uri="{BB962C8B-B14F-4D97-AF65-F5344CB8AC3E}">
        <p14:creationId xmlns:p14="http://schemas.microsoft.com/office/powerpoint/2010/main" val="5071461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168154ED-D033-4BB9-9F80-9456D43E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ドーパミン要素を、プレイの瞬間へ落とす">
            <a:extLst xmlns:a="http://schemas.openxmlformats.org/drawingml/2006/main">
              <a:ext uri="{FF2B5EF4-FFF2-40B4-BE49-F238E27FC236}">
                <a16:creationId xmlns:a16="http://schemas.microsoft.com/office/drawing/2014/main" id="{46E99137-5641-4DCF-8553-DA0D7498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ドーパミン要素を、プレイの瞬間へ落とす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66C571D2-1211-4B9F-869D-1493CD64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13 / 28">
            <a:extLst xmlns:a="http://schemas.openxmlformats.org/drawingml/2006/main">
              <a:ext uri="{FF2B5EF4-FFF2-40B4-BE49-F238E27FC236}">
                <a16:creationId xmlns:a16="http://schemas.microsoft.com/office/drawing/2014/main" id="{C6625728-AAB1-4F0A-A432-9AAD16D5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13 / 28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647825"/>
          <a:ext xmlns:a="http://schemas.openxmlformats.org/drawingml/2006/main" cx="1085850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143250"/>
                <a:gridCol w="5381625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瞬間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狙う感情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そのための設計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候補が出る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期待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有効な選択と、構成を伸ばす候補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あと1枚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待ち遠しさ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進化条件を見せ、3枚目を保証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初めて発動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納得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選んだ効果がすぐ見える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進化する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達成感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自分の選択で能力が完成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群れを倒す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爽快感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成長後に圧倒できる区間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次の出撃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好奇心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見送った構成を試せる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</a:tbl>
          </a:graphicData>
        </a:graphic>
      </p:graphicFrame>
      <p:sp>
        <p:nvSpPr>
          <p:cNvPr id="6" name="「ドーパミン要素」は期待・達成・爽快感の設計仮説。分泌量を測定し">
            <a:extLst xmlns:a="http://schemas.openxmlformats.org/drawingml/2006/main">
              <a:ext uri="{FF2B5EF4-FFF2-40B4-BE49-F238E27FC236}">
                <a16:creationId xmlns:a16="http://schemas.microsoft.com/office/drawing/2014/main" id="{9FE88BB9-9FEB-4578-892D-451B366C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「ドーパミン要素」は期待・達成・爽快感の設計仮説。分泌量を測定した主張ではない。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7953342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DC4AB23D-5AA2-4517-8E93-B1A277E4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「あと1枚」の期待感">
            <a:extLst xmlns:a="http://schemas.openxmlformats.org/drawingml/2006/main">
              <a:ext uri="{FF2B5EF4-FFF2-40B4-BE49-F238E27FC236}">
                <a16:creationId xmlns:a16="http://schemas.microsoft.com/office/drawing/2014/main" id="{A9205DF5-7B22-45A0-9207-0DC4A17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「あと1枚」の期待感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1CBD85E3-2875-4510-88B7-2A7E0D18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14 / 28">
            <a:extLst xmlns:a="http://schemas.openxmlformats.org/drawingml/2006/main">
              <a:ext uri="{FF2B5EF4-FFF2-40B4-BE49-F238E27FC236}">
                <a16:creationId xmlns:a16="http://schemas.microsoft.com/office/drawing/2014/main" id="{89E38318-B99B-40BA-983A-A75FEBF4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14 / 28</a:t>
            </a:r>
          </a:p>
        </p:txBody>
      </p:sp>
      <p:sp>
        <p:nvSpPr>
          <p:cNvPr id="5" name="2 / 3">
            <a:extLst xmlns:a="http://schemas.openxmlformats.org/drawingml/2006/main">
              <a:ext uri="{FF2B5EF4-FFF2-40B4-BE49-F238E27FC236}">
                <a16:creationId xmlns:a16="http://schemas.microsoft.com/office/drawing/2014/main" id="{0D000844-6DEE-4BD6-BC2C-66CDB2D1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427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2 / 3</a:t>
            </a:r>
          </a:p>
        </p:txBody>
      </p:sp>
      <p:sp>
        <p:nvSpPr>
          <p:cNvPr id="6" name="完成が見えている">
            <a:extLst xmlns:a="http://schemas.openxmlformats.org/drawingml/2006/main">
              <a:ext uri="{FF2B5EF4-FFF2-40B4-BE49-F238E27FC236}">
                <a16:creationId xmlns:a16="http://schemas.microsoft.com/office/drawing/2014/main" id="{761F36F7-6730-4F9E-BBC1-C701F414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完成が見えている</a:t>
            </a:r>
          </a:p>
        </p:txBody>
      </p:sp>
      <p:sp>
        <p:nvSpPr>
          <p:cNvPr id="7" name="必要なカードと進化効果を表示。&#10;次の候補に残り1枚を保証。">
            <a:extLst xmlns:a="http://schemas.openxmlformats.org/drawingml/2006/main">
              <a:ext uri="{FF2B5EF4-FFF2-40B4-BE49-F238E27FC236}">
                <a16:creationId xmlns:a16="http://schemas.microsoft.com/office/drawing/2014/main" id="{AF0DAC72-2266-4634-822B-F615C594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5238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必要なカードと進化効果を表示。</a:t>
            </a:r>
          </a:p>
          <a:p xmlns:a="http://schemas.openxmlformats.org/drawingml/2006/main">
            <a:pPr>
              <a:def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次の候補に残り1枚を保証。</a:t>
            </a:r>
          </a:p>
        </p:txBody>
      </p:sp>
      <p:sp>
        <p:nvSpPr>
          <p:cNvPr id="8" name="3 / 3">
            <a:extLst xmlns:a="http://schemas.openxmlformats.org/drawingml/2006/main">
              <a:ext uri="{FF2B5EF4-FFF2-40B4-BE49-F238E27FC236}">
                <a16:creationId xmlns:a16="http://schemas.microsoft.com/office/drawing/2014/main" id="{B802CC4A-FDC8-4C10-8EA0-B38AAB30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FB177"/>
                </a:solidFill>
                <a:latin typeface="Yu Gothic"/>
                <a:ea typeface="Yu Gothic"/>
                <a:cs typeface="Yu Gothic"/>
              </a:defRPr>
            </a:pPr>
            <a:r>
              <a:rPr sz="4275" b="1">
                <a:solidFill>
                  <a:srgbClr val="FFB177"/>
                </a:solidFill>
                <a:latin typeface="Yu Gothic"/>
                <a:ea typeface="Yu Gothic"/>
                <a:cs typeface="Yu Gothic"/>
              </a:rPr>
              <a:t>3 / 3</a:t>
            </a:r>
          </a:p>
        </p:txBody>
      </p:sp>
      <p:sp>
        <p:nvSpPr>
          <p:cNvPr id="9" name="自分で完成を選ぶ">
            <a:extLst xmlns:a="http://schemas.openxmlformats.org/drawingml/2006/main">
              <a:ext uri="{FF2B5EF4-FFF2-40B4-BE49-F238E27FC236}">
                <a16:creationId xmlns:a16="http://schemas.microsoft.com/office/drawing/2014/main" id="{57F12295-A1CA-429D-9A6C-E8AE7A98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自分で完成を選ぶ</a:t>
            </a:r>
          </a:p>
        </p:txBody>
      </p:sp>
      <p:sp>
        <p:nvSpPr>
          <p:cNvPr id="10" name="取れば、その場で追加能力を解放。&#10;見送って別の備えをする自由も残">
            <a:extLst xmlns:a="http://schemas.openxmlformats.org/drawingml/2006/main">
              <a:ext uri="{FF2B5EF4-FFF2-40B4-BE49-F238E27FC236}">
                <a16:creationId xmlns:a16="http://schemas.microsoft.com/office/drawing/2014/main" id="{C85CCEB0-1BE3-4CFD-A2E9-680E71FA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38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取れば、その場で追加能力を解放。</a:t>
            </a:r>
          </a:p>
          <a:p xmlns:a="http://schemas.openxmlformats.org/drawingml/2006/main">
            <a:pPr>
              <a:def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見送って別の備えをする自由も残す。</a:t>
            </a:r>
          </a:p>
        </p:txBody>
      </p:sp>
      <p:sp>
        <p:nvSpPr>
          <p:cNvPr id="11" name="完成させる選択と、今をしのぐ選択の両方に意味を持たせる。">
            <a:extLst xmlns:a="http://schemas.openxmlformats.org/drawingml/2006/main">
              <a:ext uri="{FF2B5EF4-FFF2-40B4-BE49-F238E27FC236}">
                <a16:creationId xmlns:a16="http://schemas.microsoft.com/office/drawing/2014/main" id="{948322A9-898D-4E64-ADDD-82BE96BA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完成させる選択と、今をしのぐ選択の両方に意味を持たせる。</a:t>
            </a:r>
          </a:p>
        </p:txBody>
      </p:sp>
    </p:spTree>
    <p:extLst>
      <p:ext uri="{BB962C8B-B14F-4D97-AF65-F5344CB8AC3E}">
        <p14:creationId xmlns:p14="http://schemas.microsoft.com/office/powerpoint/2010/main" val="9553152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D8325671-FB0E-4A3F-8768-837ECC71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初発動の手応え">
            <a:extLst xmlns:a="http://schemas.openxmlformats.org/drawingml/2006/main">
              <a:ext uri="{FF2B5EF4-FFF2-40B4-BE49-F238E27FC236}">
                <a16:creationId xmlns:a16="http://schemas.microsoft.com/office/drawing/2014/main" id="{59D57F1D-A142-4A07-8CD2-A7DB2B12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初発動の手応え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A76170AF-84FC-46CA-8170-BB5B55C8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15 / 28">
            <a:extLst xmlns:a="http://schemas.openxmlformats.org/drawingml/2006/main">
              <a:ext uri="{FF2B5EF4-FFF2-40B4-BE49-F238E27FC236}">
                <a16:creationId xmlns:a16="http://schemas.microsoft.com/office/drawing/2014/main" id="{817E2AEE-BC5F-4F34-ABEC-DF4840C9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15 / 28</a:t>
            </a:r>
          </a:p>
        </p:txBody>
      </p:sp>
      <p:sp>
        <p:nvSpPr>
          <p:cNvPr id="5" name="選んだ時">
            <a:extLst xmlns:a="http://schemas.openxmlformats.org/drawingml/2006/main">
              <a:ext uri="{FF2B5EF4-FFF2-40B4-BE49-F238E27FC236}">
                <a16:creationId xmlns:a16="http://schemas.microsoft.com/office/drawing/2014/main" id="{70D22251-ADBB-4F9A-BEBB-5A6AD1FD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選んだ時</a:t>
            </a:r>
          </a:p>
        </p:txBody>
      </p:sp>
      <p:sp>
        <p:nvSpPr>
          <p:cNvPr id="6" name="変化が分かる">
            <a:extLst xmlns:a="http://schemas.openxmlformats.org/drawingml/2006/main">
              <a:ext uri="{FF2B5EF4-FFF2-40B4-BE49-F238E27FC236}">
                <a16:creationId xmlns:a16="http://schemas.microsoft.com/office/drawing/2014/main" id="{C40150F7-AA58-4256-80F8-AFD471E8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3355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変化が分かる</a:t>
            </a:r>
          </a:p>
        </p:txBody>
      </p:sp>
      <p:sp>
        <p:nvSpPr>
          <p:cNvPr id="7" name="短い効果文と進化までの枚数を見せる。">
            <a:extLst xmlns:a="http://schemas.openxmlformats.org/drawingml/2006/main">
              <a:ext uri="{FF2B5EF4-FFF2-40B4-BE49-F238E27FC236}">
                <a16:creationId xmlns:a16="http://schemas.microsoft.com/office/drawing/2014/main" id="{1049B296-EAE0-4AEF-9885-A0D76B38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66950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短い効果文と進化までの枚数を見せる。</a:t>
            </a:r>
          </a:p>
        </p:txBody>
      </p:sp>
      <p:sp>
        <p:nvSpPr>
          <p:cNvPr id="8" name="初命中">
            <a:extLst xmlns:a="http://schemas.openxmlformats.org/drawingml/2006/main">
              <a:ext uri="{FF2B5EF4-FFF2-40B4-BE49-F238E27FC236}">
                <a16:creationId xmlns:a16="http://schemas.microsoft.com/office/drawing/2014/main" id="{CB512F9C-5284-4AB2-B279-7265471F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初命中</a:t>
            </a:r>
          </a:p>
        </p:txBody>
      </p:sp>
      <p:sp>
        <p:nvSpPr>
          <p:cNvPr id="9" name="原因が分かる">
            <a:extLst xmlns:a="http://schemas.openxmlformats.org/drawingml/2006/main">
              <a:ext uri="{FF2B5EF4-FFF2-40B4-BE49-F238E27FC236}">
                <a16:creationId xmlns:a16="http://schemas.microsoft.com/office/drawing/2014/main" id="{FA953A37-37F0-46B0-BEEE-B70B2A3C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95625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原因が分かる</a:t>
            </a:r>
          </a:p>
        </p:txBody>
      </p:sp>
      <p:sp>
        <p:nvSpPr>
          <p:cNvPr id="10" name="印、爆発、跳弾の起点を明確にする。">
            <a:extLst xmlns:a="http://schemas.openxmlformats.org/drawingml/2006/main">
              <a:ext uri="{FF2B5EF4-FFF2-40B4-BE49-F238E27FC236}">
                <a16:creationId xmlns:a16="http://schemas.microsoft.com/office/drawing/2014/main" id="{3A9DCB4B-F45C-4E5F-8BB0-661B0288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29025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印、爆発、跳弾の起点を明確にする。</a:t>
            </a:r>
          </a:p>
        </p:txBody>
      </p:sp>
      <p:sp>
        <p:nvSpPr>
          <p:cNvPr id="11" name="倒した時">
            <a:extLst xmlns:a="http://schemas.openxmlformats.org/drawingml/2006/main">
              <a:ext uri="{FF2B5EF4-FFF2-40B4-BE49-F238E27FC236}">
                <a16:creationId xmlns:a16="http://schemas.microsoft.com/office/drawing/2014/main" id="{EC8A2FA0-F973-4AFF-B53B-463846F5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倒した時</a:t>
            </a:r>
          </a:p>
        </p:txBody>
      </p:sp>
      <p:sp>
        <p:nvSpPr>
          <p:cNvPr id="12" name="結果が返る">
            <a:extLst xmlns:a="http://schemas.openxmlformats.org/drawingml/2006/main">
              <a:ext uri="{FF2B5EF4-FFF2-40B4-BE49-F238E27FC236}">
                <a16:creationId xmlns:a16="http://schemas.microsoft.com/office/drawing/2014/main" id="{1D02E4B3-2BD0-40A8-A1F4-A18F16DC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5770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結果が返る</a:t>
            </a:r>
          </a:p>
        </p:txBody>
      </p:sp>
      <p:sp>
        <p:nvSpPr>
          <p:cNvPr id="13" name="短い音、撃破反応、連鎖数で応える。">
            <a:extLst xmlns:a="http://schemas.openxmlformats.org/drawingml/2006/main">
              <a:ext uri="{FF2B5EF4-FFF2-40B4-BE49-F238E27FC236}">
                <a16:creationId xmlns:a16="http://schemas.microsoft.com/office/drawing/2014/main" id="{F5B7FE79-9FDF-4AD0-B0BC-65C8384C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91100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短い音、撃破反応、連鎖数で応える。</a:t>
            </a:r>
          </a:p>
        </p:txBody>
      </p:sp>
      <p:sp>
        <p:nvSpPr>
          <p:cNvPr id="14" name="敵の予兆・照準・足元・味方ダウンの視認を最優先にする。">
            <a:extLst xmlns:a="http://schemas.openxmlformats.org/drawingml/2006/main">
              <a:ext uri="{FF2B5EF4-FFF2-40B4-BE49-F238E27FC236}">
                <a16:creationId xmlns:a16="http://schemas.microsoft.com/office/drawing/2014/main" id="{10B4B378-DEDA-4C3E-A0BA-98B7B878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敵の予兆・照準・足元・味方ダウンの視認を最優先にする。</a:t>
            </a:r>
          </a:p>
        </p:txBody>
      </p:sp>
    </p:spTree>
    <p:extLst>
      <p:ext uri="{BB962C8B-B14F-4D97-AF65-F5344CB8AC3E}">
        <p14:creationId xmlns:p14="http://schemas.microsoft.com/office/powerpoint/2010/main" val="18429997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41458E76-0B6A-4C76-9CDC-C0DDE132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強くなった実感">
            <a:extLst xmlns:a="http://schemas.openxmlformats.org/drawingml/2006/main">
              <a:ext uri="{FF2B5EF4-FFF2-40B4-BE49-F238E27FC236}">
                <a16:creationId xmlns:a16="http://schemas.microsoft.com/office/drawing/2014/main" id="{70CBBFE8-8C0D-463E-882E-8B0B8135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強くなった実感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00016F75-4F7D-40F5-9FB1-0B59B971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16 / 28">
            <a:extLst xmlns:a="http://schemas.openxmlformats.org/drawingml/2006/main">
              <a:ext uri="{FF2B5EF4-FFF2-40B4-BE49-F238E27FC236}">
                <a16:creationId xmlns:a16="http://schemas.microsoft.com/office/drawing/2014/main" id="{4922AAFA-2BD4-4034-9FDC-26CC47D5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16 / 28</a:t>
            </a:r>
          </a:p>
        </p:txBody>
      </p:sp>
      <p:sp>
        <p:nvSpPr>
          <p:cNvPr id="5" name="序盤">
            <a:extLst xmlns:a="http://schemas.openxmlformats.org/drawingml/2006/main">
              <a:ext uri="{FF2B5EF4-FFF2-40B4-BE49-F238E27FC236}">
                <a16:creationId xmlns:a16="http://schemas.microsoft.com/office/drawing/2014/main" id="{2CD6E860-EFE4-4CCA-AB6C-2FDB1E10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427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序盤</a:t>
            </a:r>
          </a:p>
        </p:txBody>
      </p:sp>
      <p:sp>
        <p:nvSpPr>
          <p:cNvPr id="6" name="一体ずつ道を作る">
            <a:extLst xmlns:a="http://schemas.openxmlformats.org/drawingml/2006/main">
              <a:ext uri="{FF2B5EF4-FFF2-40B4-BE49-F238E27FC236}">
                <a16:creationId xmlns:a16="http://schemas.microsoft.com/office/drawing/2014/main" id="{3AB55582-6951-4B27-AD53-EED51D47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一体ずつ道を作る</a:t>
            </a:r>
          </a:p>
        </p:txBody>
      </p:sp>
      <p:sp>
        <p:nvSpPr>
          <p:cNvPr id="7" name="狙う敵を決め、回避と装填を挟む。&#10;同じ群れにも対応の時間がかかる">
            <a:extLst xmlns:a="http://schemas.openxmlformats.org/drawingml/2006/main">
              <a:ext uri="{FF2B5EF4-FFF2-40B4-BE49-F238E27FC236}">
                <a16:creationId xmlns:a16="http://schemas.microsoft.com/office/drawing/2014/main" id="{A314288C-627F-45B9-8A75-0E6D86A6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5238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狙う敵を決め、回避と装填を挟む。</a:t>
            </a:r>
          </a:p>
          <a:p xmlns:a="http://schemas.openxmlformats.org/drawingml/2006/main">
            <a:pPr>
              <a:def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同じ群れにも対応の時間がかかる。</a:t>
            </a:r>
          </a:p>
        </p:txBody>
      </p:sp>
      <p:sp>
        <p:nvSpPr>
          <p:cNvPr id="8" name="進化後">
            <a:extLst xmlns:a="http://schemas.openxmlformats.org/drawingml/2006/main">
              <a:ext uri="{FF2B5EF4-FFF2-40B4-BE49-F238E27FC236}">
                <a16:creationId xmlns:a16="http://schemas.microsoft.com/office/drawing/2014/main" id="{1F138FB3-B322-443A-B9BF-8FA50907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FB177"/>
                </a:solidFill>
                <a:latin typeface="Yu Gothic"/>
                <a:ea typeface="Yu Gothic"/>
                <a:cs typeface="Yu Gothic"/>
              </a:defRPr>
            </a:pPr>
            <a:r>
              <a:rPr sz="4275" b="1">
                <a:solidFill>
                  <a:srgbClr val="FFB177"/>
                </a:solidFill>
                <a:latin typeface="Yu Gothic"/>
                <a:ea typeface="Yu Gothic"/>
                <a:cs typeface="Yu Gothic"/>
              </a:rPr>
              <a:t>進化後</a:t>
            </a:r>
          </a:p>
        </p:txBody>
      </p:sp>
      <p:sp>
        <p:nvSpPr>
          <p:cNvPr id="9" name="群れに突破口が開く">
            <a:extLst xmlns:a="http://schemas.openxmlformats.org/drawingml/2006/main">
              <a:ext uri="{FF2B5EF4-FFF2-40B4-BE49-F238E27FC236}">
                <a16:creationId xmlns:a16="http://schemas.microsoft.com/office/drawing/2014/main" id="{44D56CF7-C724-46FB-8322-DC5D52F5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群れに突破口が開く</a:t>
            </a:r>
          </a:p>
        </p:txBody>
      </p:sp>
      <p:sp>
        <p:nvSpPr>
          <p:cNvPr id="10" name="起点の一発から連鎖が広がる。&#10;選んだ構成が、処理の仕方を変える。">
            <a:extLst xmlns:a="http://schemas.openxmlformats.org/drawingml/2006/main">
              <a:ext uri="{FF2B5EF4-FFF2-40B4-BE49-F238E27FC236}">
                <a16:creationId xmlns:a16="http://schemas.microsoft.com/office/drawing/2014/main" id="{B07FA83E-7B75-4B2D-AE24-9F11B210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38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起点の一発から連鎖が広がる。</a:t>
            </a:r>
          </a:p>
          <a:p xmlns:a="http://schemas.openxmlformats.org/drawingml/2006/main">
            <a:pPr>
              <a:def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選んだ構成が、処理の仕方を変える。</a:t>
            </a:r>
          </a:p>
        </p:txBody>
      </p:sp>
      <p:sp>
        <p:nvSpPr>
          <p:cNvPr id="11" name="強化の直後に敵HPを同率で上げず、進化後の操作時間を確保する。">
            <a:extLst xmlns:a="http://schemas.openxmlformats.org/drawingml/2006/main">
              <a:ext uri="{FF2B5EF4-FFF2-40B4-BE49-F238E27FC236}">
                <a16:creationId xmlns:a16="http://schemas.microsoft.com/office/drawing/2014/main" id="{01CE1779-C031-4BEC-BB1F-ABD3806F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強化の直後に敵HPを同率で上げず、進化後の操作時間を確保する。</a:t>
            </a:r>
          </a:p>
        </p:txBody>
      </p:sp>
    </p:spTree>
    <p:extLst>
      <p:ext uri="{BB962C8B-B14F-4D97-AF65-F5344CB8AC3E}">
        <p14:creationId xmlns:p14="http://schemas.microsoft.com/office/powerpoint/2010/main" val="6874561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F74AF1BA-8DAB-4755-97AF-655B5D03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大型敵戦に残る、操作の見せ場">
            <a:extLst xmlns:a="http://schemas.openxmlformats.org/drawingml/2006/main">
              <a:ext uri="{FF2B5EF4-FFF2-40B4-BE49-F238E27FC236}">
                <a16:creationId xmlns:a16="http://schemas.microsoft.com/office/drawing/2014/main" id="{B874AA8C-3063-4E56-8B9D-A11690BD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大型敵戦に残る、操作の見せ場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5F15AB9B-C2D2-4EE7-9F2D-1135E732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17 / 28">
            <a:extLst xmlns:a="http://schemas.openxmlformats.org/drawingml/2006/main">
              <a:ext uri="{FF2B5EF4-FFF2-40B4-BE49-F238E27FC236}">
                <a16:creationId xmlns:a16="http://schemas.microsoft.com/office/drawing/2014/main" id="{3309F35A-D24D-4535-B676-EE84116A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17 / 28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774656a0444df"/>
          <a:stretch xmlns:a="http://schemas.openxmlformats.org/drawingml/2006/main"/>
        </p:blipFill>
        <p:spPr>
          <a:xfrm xmlns:a="http://schemas.openxmlformats.org/drawingml/2006/main">
            <a:off x="1133475" y="1685925"/>
            <a:ext cx="4210050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既存CALYXの造形資料">
            <a:extLst xmlns:a="http://schemas.openxmlformats.org/drawingml/2006/main">
              <a:ext uri="{FF2B5EF4-FFF2-40B4-BE49-F238E27FC236}">
                <a16:creationId xmlns:a16="http://schemas.microsoft.com/office/drawing/2014/main" id="{F1811C39-5B38-4BED-998C-3A0BDF15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既存CALYXの造形資料</a:t>
            </a:r>
          </a:p>
        </p:txBody>
      </p:sp>
      <p:sp>
        <p:nvSpPr>
          <p:cNvPr id="7" name="予兆を読む">
            <a:extLst xmlns:a="http://schemas.openxmlformats.org/drawingml/2006/main">
              <a:ext uri="{FF2B5EF4-FFF2-40B4-BE49-F238E27FC236}">
                <a16:creationId xmlns:a16="http://schemas.microsoft.com/office/drawing/2014/main" id="{6720DA4F-838F-4EBA-B184-2E6B1106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予兆を読む</a:t>
            </a:r>
          </a:p>
        </p:txBody>
      </p:sp>
      <p:sp>
        <p:nvSpPr>
          <p:cNvPr id="8" name="強化が完成しても、攻撃を避ける判断は残す。">
            <a:extLst xmlns:a="http://schemas.openxmlformats.org/drawingml/2006/main">
              <a:ext uri="{FF2B5EF4-FFF2-40B4-BE49-F238E27FC236}">
                <a16:creationId xmlns:a16="http://schemas.microsoft.com/office/drawing/2014/main" id="{67D2B893-BB4A-4B1A-8C25-5EE07CC9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527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強化が完成しても、攻撃を避ける判断は残す。</a:t>
            </a:r>
          </a:p>
        </p:txBody>
      </p:sp>
      <p:sp>
        <p:nvSpPr>
          <p:cNvPr id="9" name="狙う順番を変える">
            <a:extLst xmlns:a="http://schemas.openxmlformats.org/drawingml/2006/main">
              <a:ext uri="{FF2B5EF4-FFF2-40B4-BE49-F238E27FC236}">
                <a16:creationId xmlns:a16="http://schemas.microsoft.com/office/drawing/2014/main" id="{C92A30BF-3512-4C2A-A69C-993138FE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28975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狙う順番を変える</a:t>
            </a:r>
          </a:p>
        </p:txBody>
      </p:sp>
      <p:sp>
        <p:nvSpPr>
          <p:cNvPr id="10" name="大型と援軍のどちらを先に処理するか考える。">
            <a:extLst xmlns:a="http://schemas.openxmlformats.org/drawingml/2006/main">
              <a:ext uri="{FF2B5EF4-FFF2-40B4-BE49-F238E27FC236}">
                <a16:creationId xmlns:a16="http://schemas.microsoft.com/office/drawing/2014/main" id="{74F228BA-7D66-4AD6-AF83-92B507EE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9525"/>
            <a:ext cx="527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大型と援軍のどちらを先に処理するか考える。</a:t>
            </a:r>
          </a:p>
        </p:txBody>
      </p:sp>
      <p:sp>
        <p:nvSpPr>
          <p:cNvPr id="11" name="完成した構成で決着">
            <a:extLst xmlns:a="http://schemas.openxmlformats.org/drawingml/2006/main">
              <a:ext uri="{FF2B5EF4-FFF2-40B4-BE49-F238E27FC236}">
                <a16:creationId xmlns:a16="http://schemas.microsoft.com/office/drawing/2014/main" id="{18E6E692-3BC9-4982-8252-A415CC15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67250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完成した構成で決着</a:t>
            </a:r>
          </a:p>
        </p:txBody>
      </p:sp>
      <p:sp>
        <p:nvSpPr>
          <p:cNvPr id="12" name="選択した能力を使い、最後は自分で勝ち切る。">
            <a:extLst xmlns:a="http://schemas.openxmlformats.org/drawingml/2006/main">
              <a:ext uri="{FF2B5EF4-FFF2-40B4-BE49-F238E27FC236}">
                <a16:creationId xmlns:a16="http://schemas.microsoft.com/office/drawing/2014/main" id="{0BE44A3B-642B-4F74-A320-4F6BE2B4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57800"/>
            <a:ext cx="527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選択した能力を使い、最後は自分で勝ち切る。</a:t>
            </a:r>
          </a:p>
        </p:txBody>
      </p:sp>
    </p:spTree>
    <p:extLst>
      <p:ext uri="{BB962C8B-B14F-4D97-AF65-F5344CB8AC3E}">
        <p14:creationId xmlns:p14="http://schemas.microsoft.com/office/powerpoint/2010/main" val="7120340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9C35B941-5CEA-4C09-8EBD-E3B4D28F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もう一回を生む理由">
            <a:extLst xmlns:a="http://schemas.openxmlformats.org/drawingml/2006/main">
              <a:ext uri="{FF2B5EF4-FFF2-40B4-BE49-F238E27FC236}">
                <a16:creationId xmlns:a16="http://schemas.microsoft.com/office/drawing/2014/main" id="{EE579738-5A59-455D-8522-26FFA227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もう一回を生む理由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881ED5F9-4EF2-4ACB-AD51-6AAF4548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18 / 28">
            <a:extLst xmlns:a="http://schemas.openxmlformats.org/drawingml/2006/main">
              <a:ext uri="{FF2B5EF4-FFF2-40B4-BE49-F238E27FC236}">
                <a16:creationId xmlns:a16="http://schemas.microsoft.com/office/drawing/2014/main" id="{A593D40D-B59B-4A58-805D-62379CD5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18 / 28</a:t>
            </a:r>
          </a:p>
        </p:txBody>
      </p:sp>
      <p:sp>
        <p:nvSpPr>
          <p:cNvPr id="5" name="別の構成">
            <a:extLst xmlns:a="http://schemas.openxmlformats.org/drawingml/2006/main">
              <a:ext uri="{FF2B5EF4-FFF2-40B4-BE49-F238E27FC236}">
                <a16:creationId xmlns:a16="http://schemas.microsoft.com/office/drawing/2014/main" id="{25F1BC07-24F0-41FB-84C9-18C0A49C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別の構成</a:t>
            </a:r>
          </a:p>
        </p:txBody>
      </p:sp>
      <p:sp>
        <p:nvSpPr>
          <p:cNvPr id="6" name="見送った能力を試す">
            <a:extLst xmlns:a="http://schemas.openxmlformats.org/drawingml/2006/main">
              <a:ext uri="{FF2B5EF4-FFF2-40B4-BE49-F238E27FC236}">
                <a16:creationId xmlns:a16="http://schemas.microsoft.com/office/drawing/2014/main" id="{FECD1FB5-ABF3-43C4-9ABF-8C9EA774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3355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見送った能力を試す</a:t>
            </a:r>
          </a:p>
        </p:txBody>
      </p:sp>
      <p:sp>
        <p:nvSpPr>
          <p:cNvPr id="7" name="爆発の次は、射線を通す貫通を選ぶ。">
            <a:extLst xmlns:a="http://schemas.openxmlformats.org/drawingml/2006/main">
              <a:ext uri="{FF2B5EF4-FFF2-40B4-BE49-F238E27FC236}">
                <a16:creationId xmlns:a16="http://schemas.microsoft.com/office/drawing/2014/main" id="{558D9186-0489-4FCB-80F0-8F1FF6AF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66950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爆発の次は、射線を通す貫通を選ぶ。</a:t>
            </a:r>
          </a:p>
        </p:txBody>
      </p:sp>
      <p:sp>
        <p:nvSpPr>
          <p:cNvPr id="8" name="別の操作">
            <a:extLst xmlns:a="http://schemas.openxmlformats.org/drawingml/2006/main">
              <a:ext uri="{FF2B5EF4-FFF2-40B4-BE49-F238E27FC236}">
                <a16:creationId xmlns:a16="http://schemas.microsoft.com/office/drawing/2014/main" id="{E2ABB42F-B20D-4579-8248-F36DACF6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別の操作</a:t>
            </a:r>
          </a:p>
        </p:txBody>
      </p:sp>
      <p:sp>
        <p:nvSpPr>
          <p:cNvPr id="9" name="上達を確かめる">
            <a:extLst xmlns:a="http://schemas.openxmlformats.org/drawingml/2006/main">
              <a:ext uri="{FF2B5EF4-FFF2-40B4-BE49-F238E27FC236}">
                <a16:creationId xmlns:a16="http://schemas.microsoft.com/office/drawing/2014/main" id="{B3ED2D7A-7368-4668-A319-9A01A863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95625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上達を確かめる</a:t>
            </a:r>
          </a:p>
        </p:txBody>
      </p:sp>
      <p:sp>
        <p:nvSpPr>
          <p:cNvPr id="10" name="敵を並べる位置、地雷を置く回避を変える。">
            <a:extLst xmlns:a="http://schemas.openxmlformats.org/drawingml/2006/main">
              <a:ext uri="{FF2B5EF4-FFF2-40B4-BE49-F238E27FC236}">
                <a16:creationId xmlns:a16="http://schemas.microsoft.com/office/drawing/2014/main" id="{2513BA94-1A86-4D40-9BC4-8A6FEA77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29025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敵を並べる位置、地雷を置く回避を変える。</a:t>
            </a:r>
          </a:p>
        </p:txBody>
      </p:sp>
      <p:sp>
        <p:nvSpPr>
          <p:cNvPr id="11" name="別の判断">
            <a:extLst xmlns:a="http://schemas.openxmlformats.org/drawingml/2006/main">
              <a:ext uri="{FF2B5EF4-FFF2-40B4-BE49-F238E27FC236}">
                <a16:creationId xmlns:a16="http://schemas.microsoft.com/office/drawing/2014/main" id="{61F69C34-398C-4C18-B6CA-0296D1BF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別の判断</a:t>
            </a:r>
          </a:p>
        </p:txBody>
      </p:sp>
      <p:sp>
        <p:nvSpPr>
          <p:cNvPr id="12" name="前回の弱点を補う">
            <a:extLst xmlns:a="http://schemas.openxmlformats.org/drawingml/2006/main">
              <a:ext uri="{FF2B5EF4-FFF2-40B4-BE49-F238E27FC236}">
                <a16:creationId xmlns:a16="http://schemas.microsoft.com/office/drawing/2014/main" id="{2EBDDECE-D245-4FFD-8525-5CBDB7D9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5770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前回の弱点を補う</a:t>
            </a:r>
          </a:p>
        </p:txBody>
      </p:sp>
      <p:sp>
        <p:nvSpPr>
          <p:cNvPr id="13" name="火力を急ぐか、装填や耐久を先に取るか。">
            <a:extLst xmlns:a="http://schemas.openxmlformats.org/drawingml/2006/main">
              <a:ext uri="{FF2B5EF4-FFF2-40B4-BE49-F238E27FC236}">
                <a16:creationId xmlns:a16="http://schemas.microsoft.com/office/drawing/2014/main" id="{57A0322C-E195-4292-AF68-8A54AFE0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91100"/>
            <a:ext cx="866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火力を急ぐか、装填や耐久を先に取るか。</a:t>
            </a:r>
          </a:p>
        </p:txBody>
      </p:sp>
      <p:sp>
        <p:nvSpPr>
          <p:cNvPr id="14" name="構成・進化・見せ場を短く振り返り、同じ装備で再挑戦できる。">
            <a:extLst xmlns:a="http://schemas.openxmlformats.org/drawingml/2006/main">
              <a:ext uri="{FF2B5EF4-FFF2-40B4-BE49-F238E27FC236}">
                <a16:creationId xmlns:a16="http://schemas.microsoft.com/office/drawing/2014/main" id="{27BF5614-97DE-48CB-A1A5-86C4D7F6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構成・進化・見せ場を短く振り返り、同じ装備で再挑戦できる。</a:t>
            </a:r>
          </a:p>
        </p:txBody>
      </p:sp>
    </p:spTree>
    <p:extLst>
      <p:ext uri="{BB962C8B-B14F-4D97-AF65-F5344CB8AC3E}">
        <p14:creationId xmlns:p14="http://schemas.microsoft.com/office/powerpoint/2010/main" val="10174547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9A344920-DE9F-4493-BD73-1D93C123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防衛に、前へ出る判断を加える">
            <a:extLst xmlns:a="http://schemas.openxmlformats.org/drawingml/2006/main">
              <a:ext uri="{FF2B5EF4-FFF2-40B4-BE49-F238E27FC236}">
                <a16:creationId xmlns:a16="http://schemas.microsoft.com/office/drawing/2014/main" id="{83622267-B25F-4DB5-A220-F4CE5A27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防衛に、前へ出る判断を加える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B38754B0-0024-4D95-926F-03A814ED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19 / 28">
            <a:extLst xmlns:a="http://schemas.openxmlformats.org/drawingml/2006/main">
              <a:ext uri="{FF2B5EF4-FFF2-40B4-BE49-F238E27FC236}">
                <a16:creationId xmlns:a16="http://schemas.microsoft.com/office/drawing/2014/main" id="{ECB5E72C-91C8-480E-A1CD-967C6EE4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19 / 28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2d7f2c9174983"/>
          <a:stretch xmlns:a="http://schemas.openxmlformats.org/drawingml/2006/main"/>
        </p:blipFill>
        <p:spPr>
          <a:xfrm xmlns:a="http://schemas.openxmlformats.org/drawingml/2006/main">
            <a:off x="666750" y="2354932"/>
            <a:ext cx="5143500" cy="2376736"/>
          </a:xfrm>
          <a:prstGeom xmlns:a="http://schemas.openxmlformats.org/drawingml/2006/main" prst="rect">
            <a:avLst/>
          </a:prstGeom>
        </p:spPr>
      </p:pic>
      <p:sp>
        <p:nvSpPr>
          <p:cNvPr id="6" name="既存の戦場。防衛比較には同じ地形を使う。">
            <a:extLst xmlns:a="http://schemas.openxmlformats.org/drawingml/2006/main">
              <a:ext uri="{FF2B5EF4-FFF2-40B4-BE49-F238E27FC236}">
                <a16:creationId xmlns:a16="http://schemas.microsoft.com/office/drawing/2014/main" id="{7F11330E-350D-4FD9-9091-292657A3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既存の戦場。防衛比較には同じ地形を使う。</a:t>
            </a:r>
          </a:p>
        </p:txBody>
      </p:sp>
      <p:sp>
        <p:nvSpPr>
          <p:cNvPr id="7" name="前に出る">
            <a:extLst xmlns:a="http://schemas.openxmlformats.org/drawingml/2006/main">
              <a:ext uri="{FF2B5EF4-FFF2-40B4-BE49-F238E27FC236}">
                <a16:creationId xmlns:a16="http://schemas.microsoft.com/office/drawing/2014/main" id="{AD870D0F-674B-4CC1-80DD-C1BBA7AF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前に出る</a:t>
            </a:r>
          </a:p>
        </p:txBody>
      </p:sp>
      <p:sp>
        <p:nvSpPr>
          <p:cNvPr id="8" name="密集した侵攻路で連鎖の起点を作る。">
            <a:extLst xmlns:a="http://schemas.openxmlformats.org/drawingml/2006/main">
              <a:ext uri="{FF2B5EF4-FFF2-40B4-BE49-F238E27FC236}">
                <a16:creationId xmlns:a16="http://schemas.microsoft.com/office/drawing/2014/main" id="{1690508C-C302-42D6-81C6-B47D36EC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527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密集した侵攻路で連鎖の起点を作る。</a:t>
            </a:r>
          </a:p>
        </p:txBody>
      </p:sp>
      <p:sp>
        <p:nvSpPr>
          <p:cNvPr id="9" name="戻って守る">
            <a:extLst xmlns:a="http://schemas.openxmlformats.org/drawingml/2006/main">
              <a:ext uri="{FF2B5EF4-FFF2-40B4-BE49-F238E27FC236}">
                <a16:creationId xmlns:a16="http://schemas.microsoft.com/office/drawing/2014/main" id="{9B2ECF95-1772-4205-A424-C2AF2709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28975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戻って守る</a:t>
            </a:r>
          </a:p>
        </p:txBody>
      </p:sp>
      <p:sp>
        <p:nvSpPr>
          <p:cNvPr id="10" name="遠距離敵や抜けた敵から拠点を守る。">
            <a:extLst xmlns:a="http://schemas.openxmlformats.org/drawingml/2006/main">
              <a:ext uri="{FF2B5EF4-FFF2-40B4-BE49-F238E27FC236}">
                <a16:creationId xmlns:a16="http://schemas.microsoft.com/office/drawing/2014/main" id="{D091CACC-DA91-469B-9866-D5192216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9525"/>
            <a:ext cx="527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遠距離敵や抜けた敵から拠点を守る。</a:t>
            </a:r>
          </a:p>
        </p:txBody>
      </p:sp>
      <p:sp>
        <p:nvSpPr>
          <p:cNvPr id="11" name="構成が位置取りを変える">
            <a:extLst xmlns:a="http://schemas.openxmlformats.org/drawingml/2006/main">
              <a:ext uri="{FF2B5EF4-FFF2-40B4-BE49-F238E27FC236}">
                <a16:creationId xmlns:a16="http://schemas.microsoft.com/office/drawing/2014/main" id="{B19ABF76-E76B-428F-A6F2-FB742F44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67250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構成が位置取りを変える</a:t>
            </a:r>
          </a:p>
        </p:txBody>
      </p:sp>
      <p:sp>
        <p:nvSpPr>
          <p:cNvPr id="12" name="爆発、貫通、地雷で得意な迎撃位置が変わる。">
            <a:extLst xmlns:a="http://schemas.openxmlformats.org/drawingml/2006/main">
              <a:ext uri="{FF2B5EF4-FFF2-40B4-BE49-F238E27FC236}">
                <a16:creationId xmlns:a16="http://schemas.microsoft.com/office/drawing/2014/main" id="{02AC92C3-A55A-4380-A4F0-BB7AFC93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57800"/>
            <a:ext cx="527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爆発、貫通、地雷で得意な迎撃位置が変わる。</a:t>
            </a:r>
          </a:p>
        </p:txBody>
      </p:sp>
    </p:spTree>
    <p:extLst>
      <p:ext uri="{BB962C8B-B14F-4D97-AF65-F5344CB8AC3E}">
        <p14:creationId xmlns:p14="http://schemas.microsoft.com/office/powerpoint/2010/main" val="9646882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DF1C7311-B846-4F1A-9501-8BC8A8B1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通常作戦と日替わり作戦">
            <a:extLst xmlns:a="http://schemas.openxmlformats.org/drawingml/2006/main">
              <a:ext uri="{FF2B5EF4-FFF2-40B4-BE49-F238E27FC236}">
                <a16:creationId xmlns:a16="http://schemas.microsoft.com/office/drawing/2014/main" id="{3B8B431A-D810-4508-BC33-5BABEFF8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通常作戦と日替わり作戦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CAAD5C16-B0FB-4160-A600-3A3C0B8A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20 / 28">
            <a:extLst xmlns:a="http://schemas.openxmlformats.org/drawingml/2006/main">
              <a:ext uri="{FF2B5EF4-FFF2-40B4-BE49-F238E27FC236}">
                <a16:creationId xmlns:a16="http://schemas.microsoft.com/office/drawing/2014/main" id="{F58428DF-D33E-4971-966E-F0C8DEBA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20 / 28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647825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524375"/>
                <a:gridCol w="4572000"/>
              </a:tblGrid>
              <a:tr h="682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繰り返せる迎撃作戦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新しい日替わり作戦の案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好きな構成を試す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普段選ばない構成を試す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条件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装備と選択で遊び方を変える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地形・侵攻方向・支給系統を固定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再挑戦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同じ装備で何度でも試す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挑戦回数や報酬は製品段階で決定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共通部分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3択・進化・手動TPS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同じ成長と戦闘の規則を使う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既存日替わり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旧モードを保持して比較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現行の180秒・参加台帳を別管理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</a:tbl>
          </a:graphicData>
        </a:graphic>
      </p:graphicFrame>
      <p:sp>
        <p:nvSpPr>
          <p:cNvPr id="6" name="新モードの名称、導線、報酬、旧モードとの統合は未決。">
            <a:extLst xmlns:a="http://schemas.openxmlformats.org/drawingml/2006/main">
              <a:ext uri="{FF2B5EF4-FFF2-40B4-BE49-F238E27FC236}">
                <a16:creationId xmlns:a16="http://schemas.microsoft.com/office/drawing/2014/main" id="{B747BE68-352D-44DD-9563-FC9FD531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新モードの名称、導線、報酬、旧モードとの統合は未決。</a:t>
            </a:r>
          </a:p>
        </p:txBody>
      </p:sp>
    </p:spTree>
    <p:extLst>
      <p:ext uri="{BB962C8B-B14F-4D97-AF65-F5344CB8AC3E}">
        <p14:creationId xmlns:p14="http://schemas.microsoft.com/office/powerpoint/2010/main" val="7503196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0F1667CA-9FA7-4C5F-81CB-C4733618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協力プレイの成長と選択">
            <a:extLst xmlns:a="http://schemas.openxmlformats.org/drawingml/2006/main">
              <a:ext uri="{FF2B5EF4-FFF2-40B4-BE49-F238E27FC236}">
                <a16:creationId xmlns:a16="http://schemas.microsoft.com/office/drawing/2014/main" id="{2024B329-47B5-4944-B064-17C6EE2C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協力プレイの成長と選択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3C523DAE-63B1-4A30-A34B-93B7E8CF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21 / 28">
            <a:extLst xmlns:a="http://schemas.openxmlformats.org/drawingml/2006/main">
              <a:ext uri="{FF2B5EF4-FFF2-40B4-BE49-F238E27FC236}">
                <a16:creationId xmlns:a16="http://schemas.microsoft.com/office/drawing/2014/main" id="{6CB2157D-8ACD-48D7-89AF-6207853F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21 / 28</a:t>
            </a:r>
          </a:p>
        </p:txBody>
      </p:sp>
      <p:sp>
        <p:nvSpPr>
          <p:cNvPr id="5" name="共有XP">
            <a:extLst xmlns:a="http://schemas.openxmlformats.org/drawingml/2006/main">
              <a:ext uri="{FF2B5EF4-FFF2-40B4-BE49-F238E27FC236}">
                <a16:creationId xmlns:a16="http://schemas.microsoft.com/office/drawing/2014/main" id="{A96643D5-F276-4B20-868C-1637F283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427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共有XP</a:t>
            </a:r>
          </a:p>
        </p:txBody>
      </p:sp>
      <p:sp>
        <p:nvSpPr>
          <p:cNvPr id="6" name="成長の機会は全員へ">
            <a:extLst xmlns:a="http://schemas.openxmlformats.org/drawingml/2006/main">
              <a:ext uri="{FF2B5EF4-FFF2-40B4-BE49-F238E27FC236}">
                <a16:creationId xmlns:a16="http://schemas.microsoft.com/office/drawing/2014/main" id="{3D5F411C-4A50-4595-A41A-47DD491A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成長の機会は全員へ</a:t>
            </a:r>
          </a:p>
        </p:txBody>
      </p:sp>
      <p:sp>
        <p:nvSpPr>
          <p:cNvPr id="7" name="ラストヒットの取り合いをなくす。&#10;候補と完成する構成は各自が選ぶ">
            <a:extLst xmlns:a="http://schemas.openxmlformats.org/drawingml/2006/main">
              <a:ext uri="{FF2B5EF4-FFF2-40B4-BE49-F238E27FC236}">
                <a16:creationId xmlns:a16="http://schemas.microsoft.com/office/drawing/2014/main" id="{67457F4F-8A07-48C3-8D77-5300178E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5238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ラストヒットの取り合いをなくす。</a:t>
            </a:r>
          </a:p>
          <a:p xmlns:a="http://schemas.openxmlformats.org/drawingml/2006/main">
            <a:pPr>
              <a:def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候補と完成する構成は各自が選ぶ。</a:t>
            </a:r>
          </a:p>
        </p:txBody>
      </p:sp>
      <p:sp>
        <p:nvSpPr>
          <p:cNvPr id="8" name="最大15秒">
            <a:extLst xmlns:a="http://schemas.openxmlformats.org/drawingml/2006/main">
              <a:ext uri="{FF2B5EF4-FFF2-40B4-BE49-F238E27FC236}">
                <a16:creationId xmlns:a16="http://schemas.microsoft.com/office/drawing/2014/main" id="{68F17867-F707-4516-9955-0B6F7F34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FB177"/>
                </a:solidFill>
                <a:latin typeface="Yu Gothic"/>
                <a:ea typeface="Yu Gothic"/>
                <a:cs typeface="Yu Gothic"/>
              </a:defRPr>
            </a:pPr>
            <a:r>
              <a:rPr sz="4275" b="1">
                <a:solidFill>
                  <a:srgbClr val="FFB177"/>
                </a:solidFill>
                <a:latin typeface="Yu Gothic"/>
                <a:ea typeface="Yu Gothic"/>
                <a:cs typeface="Yu Gothic"/>
              </a:rPr>
              <a:t>最大15秒</a:t>
            </a:r>
          </a:p>
        </p:txBody>
      </p:sp>
      <p:sp>
        <p:nvSpPr>
          <p:cNvPr id="9" name="区間の合間にまとめて選ぶ">
            <a:extLst xmlns:a="http://schemas.openxmlformats.org/drawingml/2006/main">
              <a:ext uri="{FF2B5EF4-FFF2-40B4-BE49-F238E27FC236}">
                <a16:creationId xmlns:a16="http://schemas.microsoft.com/office/drawing/2014/main" id="{14291FF9-5A84-4ED9-8618-CBD17C93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区間の合間にまとめて選ぶ</a:t>
            </a:r>
          </a:p>
        </p:txBody>
      </p:sp>
      <p:sp>
        <p:nvSpPr>
          <p:cNvPr id="10" name="選択中は敵・弾・戦闘時計を停止。&#10;全員の処理が終わったら即再開。">
            <a:extLst xmlns:a="http://schemas.openxmlformats.org/drawingml/2006/main">
              <a:ext uri="{FF2B5EF4-FFF2-40B4-BE49-F238E27FC236}">
                <a16:creationId xmlns:a16="http://schemas.microsoft.com/office/drawing/2014/main" id="{500FA7F4-CA27-46C0-B2AF-DDDBEED8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38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選択中は敵・弾・戦闘時計を停止。</a:t>
            </a:r>
          </a:p>
          <a:p xmlns:a="http://schemas.openxmlformats.org/drawingml/2006/main">
            <a:pPr>
              <a:def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全員の処理が終わったら即再開。</a:t>
            </a:r>
          </a:p>
        </p:txBody>
      </p:sp>
      <p:sp>
        <p:nvSpPr>
          <p:cNvPr id="11" name="協力の停止全体で15秒。ソロは無制限。切断者も同じ期限と既定選択">
            <a:extLst xmlns:a="http://schemas.openxmlformats.org/drawingml/2006/main">
              <a:ext uri="{FF2B5EF4-FFF2-40B4-BE49-F238E27FC236}">
                <a16:creationId xmlns:a16="http://schemas.microsoft.com/office/drawing/2014/main" id="{000C6B42-4EEC-418D-BC45-963D8A7C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協力の停止全体で15秒。ソロは無制限。切断者も同じ期限と既定選択。</a:t>
            </a:r>
          </a:p>
        </p:txBody>
      </p:sp>
    </p:spTree>
    <p:extLst>
      <p:ext uri="{BB962C8B-B14F-4D97-AF65-F5344CB8AC3E}">
        <p14:creationId xmlns:p14="http://schemas.microsoft.com/office/powerpoint/2010/main" val="9148649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EC18F6F7-3DDB-44B1-B0FD-F54349A9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UIは、判断に必要な情報を前へ">
            <a:extLst xmlns:a="http://schemas.openxmlformats.org/drawingml/2006/main">
              <a:ext uri="{FF2B5EF4-FFF2-40B4-BE49-F238E27FC236}">
                <a16:creationId xmlns:a16="http://schemas.microsoft.com/office/drawing/2014/main" id="{2DFD213F-BEDC-4706-AE2E-0E81EED3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UIは、判断に必要な情報を前へ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AC435599-9CA9-495E-8C24-20450982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22 / 28">
            <a:extLst xmlns:a="http://schemas.openxmlformats.org/drawingml/2006/main">
              <a:ext uri="{FF2B5EF4-FFF2-40B4-BE49-F238E27FC236}">
                <a16:creationId xmlns:a16="http://schemas.microsoft.com/office/drawing/2014/main" id="{6ECFE631-13F0-47CA-BE1D-334C26F3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22 / 28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a2ceb3a034880"/>
          <a:stretch xmlns:a="http://schemas.openxmlformats.org/drawingml/2006/main"/>
        </p:blipFill>
        <p:spPr>
          <a:xfrm xmlns:a="http://schemas.openxmlformats.org/drawingml/2006/main">
            <a:off x="2235200" y="1590675"/>
            <a:ext cx="7721600" cy="2352675"/>
          </a:xfrm>
          <a:prstGeom xmlns:a="http://schemas.openxmlformats.org/drawingml/2006/main" prst="rect">
            <a:avLst/>
          </a:prstGeom>
        </p:spPr>
      </p:pic>
      <p:sp>
        <p:nvSpPr>
          <p:cNvPr id="6" name="3枚を同じ画面で比べる">
            <a:extLst xmlns:a="http://schemas.openxmlformats.org/drawingml/2006/main">
              <a:ext uri="{FF2B5EF4-FFF2-40B4-BE49-F238E27FC236}">
                <a16:creationId xmlns:a16="http://schemas.microsoft.com/office/drawing/2014/main" id="{F76CE40F-6887-4853-940D-5296D2D6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3枚を同じ画面で比べる</a:t>
            </a:r>
          </a:p>
        </p:txBody>
      </p:sp>
      <p:sp>
        <p:nvSpPr>
          <p:cNvPr id="7" name="発動条件と効果、今の構成との連携を表示。">
            <a:extLst xmlns:a="http://schemas.openxmlformats.org/drawingml/2006/main">
              <a:ext uri="{FF2B5EF4-FFF2-40B4-BE49-F238E27FC236}">
                <a16:creationId xmlns:a16="http://schemas.microsoft.com/office/drawing/2014/main" id="{64FCCDD5-E0C3-4DF9-8346-1A3D3B28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4425"/>
            <a:ext cx="3381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発動条件と効果、今の構成との連携を表示。</a:t>
            </a:r>
          </a:p>
        </p:txBody>
      </p:sp>
      <p:sp>
        <p:nvSpPr>
          <p:cNvPr id="8" name="進化までの道筋を見せる">
            <a:extLst xmlns:a="http://schemas.openxmlformats.org/drawingml/2006/main">
              <a:ext uri="{FF2B5EF4-FFF2-40B4-BE49-F238E27FC236}">
                <a16:creationId xmlns:a16="http://schemas.microsoft.com/office/drawing/2014/main" id="{EBC45914-7399-4096-9BB4-981FCB0F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4815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進化までの道筋を見せる</a:t>
            </a:r>
          </a:p>
        </p:txBody>
      </p:sp>
      <p:sp>
        <p:nvSpPr>
          <p:cNvPr id="9" name="必要なカードと残り枚数を隠さない。">
            <a:extLst xmlns:a="http://schemas.openxmlformats.org/drawingml/2006/main">
              <a:ext uri="{FF2B5EF4-FFF2-40B4-BE49-F238E27FC236}">
                <a16:creationId xmlns:a16="http://schemas.microsoft.com/office/drawing/2014/main" id="{957225E8-1045-4FE6-BB00-0EEF40BC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24425"/>
            <a:ext cx="3381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必要なカードと残り枚数を隠さない。</a:t>
            </a:r>
          </a:p>
        </p:txBody>
      </p:sp>
      <p:sp>
        <p:nvSpPr>
          <p:cNvPr id="10" name="戦闘へ戻りやすくする">
            <a:extLst xmlns:a="http://schemas.openxmlformats.org/drawingml/2006/main">
              <a:ext uri="{FF2B5EF4-FFF2-40B4-BE49-F238E27FC236}">
                <a16:creationId xmlns:a16="http://schemas.microsoft.com/office/drawing/2014/main" id="{30C4B1EC-3C97-493E-8A7B-05661697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戦闘へ戻りやすくする</a:t>
            </a:r>
          </a:p>
        </p:txBody>
      </p:sp>
      <p:sp>
        <p:nvSpPr>
          <p:cNvPr id="11" name="背後の戦場を見せ、再開を短く予告する。">
            <a:extLst xmlns:a="http://schemas.openxmlformats.org/drawingml/2006/main">
              <a:ext uri="{FF2B5EF4-FFF2-40B4-BE49-F238E27FC236}">
                <a16:creationId xmlns:a16="http://schemas.microsoft.com/office/drawing/2014/main" id="{29ADB906-3351-4341-93AF-3577E53A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4425"/>
            <a:ext cx="3381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背後の戦場を見せ、再開を短く予告する。</a:t>
            </a:r>
          </a:p>
        </p:txBody>
      </p:sp>
    </p:spTree>
    <p:extLst>
      <p:ext uri="{BB962C8B-B14F-4D97-AF65-F5344CB8AC3E}">
        <p14:creationId xmlns:p14="http://schemas.microsoft.com/office/powerpoint/2010/main" val="210867297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DF4DB162-FE13-43DD-980C-A8E38D2E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既存プレイヤーの資産">
            <a:extLst xmlns:a="http://schemas.openxmlformats.org/drawingml/2006/main">
              <a:ext uri="{FF2B5EF4-FFF2-40B4-BE49-F238E27FC236}">
                <a16:creationId xmlns:a16="http://schemas.microsoft.com/office/drawing/2014/main" id="{0C3E0B03-11F3-41E2-8354-CE628860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既存プレイヤーの資産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4699581F-8510-4E17-8F16-904BA2D1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23 / 28">
            <a:extLst xmlns:a="http://schemas.openxmlformats.org/drawingml/2006/main">
              <a:ext uri="{FF2B5EF4-FFF2-40B4-BE49-F238E27FC236}">
                <a16:creationId xmlns:a16="http://schemas.microsoft.com/office/drawing/2014/main" id="{CAB5D266-F5AC-4024-9D62-B1910AC4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23 / 28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647825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429125"/>
                <a:gridCol w="4333875"/>
              </a:tblGrid>
              <a:tr h="682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対象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試作での扱い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製品化で決めること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所持武器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原本の性能とレア度を保持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持込性能かモード内標準化か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育成と収集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既存の進行を変更しない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新モードでの価値の伝え方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ラン内の強化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独立した一時状態で管理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新しい解放や報酬との接続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日替わり台帳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旧モードの参加履歴を保護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新旧モードの入口と共存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報酬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初回試作は報酬なし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既存経済を崩さない付与方法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1653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46899BFA-7991-439A-A481-19FA67E6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気持ちよさを壊しやすい問題">
            <a:extLst xmlns:a="http://schemas.openxmlformats.org/drawingml/2006/main">
              <a:ext uri="{FF2B5EF4-FFF2-40B4-BE49-F238E27FC236}">
                <a16:creationId xmlns:a16="http://schemas.microsoft.com/office/drawing/2014/main" id="{0A1312BC-1C88-47BC-A293-8D0B9281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気持ちよさを壊しやすい問題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CF97C1C8-5D57-4C4E-8992-17340223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24 / 28">
            <a:extLst xmlns:a="http://schemas.openxmlformats.org/drawingml/2006/main">
              <a:ext uri="{FF2B5EF4-FFF2-40B4-BE49-F238E27FC236}">
                <a16:creationId xmlns:a16="http://schemas.microsoft.com/office/drawing/2014/main" id="{B8B9CC44-528F-49E7-9E04-37E1687A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24 / 28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647825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3333750"/>
                <a:gridCol w="4524375"/>
              </a:tblGrid>
              <a:tr h="682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起こりうる問題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プレイヤーへの影響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設計での対処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支援だけで倒せる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狙って撃つ意味が薄くなる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命中・回避など手動行動を起点にする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カードが来ない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完成を狙った選択が報われない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同系統2枚で3枚目を提示保証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進化直後に終了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完成した構成を楽しめない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進化後の操作時間を測る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演出で危険が隠れる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被弾の理由が分からない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予兆と照準を視覚的に優先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毎回選択を待つ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協力のテンポが途切れる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区間でまとめ、累計停止を測る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4387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4975519D-D8F5-4BF2-966E-947470AB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制作は、快感の核から広げる">
            <a:extLst xmlns:a="http://schemas.openxmlformats.org/drawingml/2006/main">
              <a:ext uri="{FF2B5EF4-FFF2-40B4-BE49-F238E27FC236}">
                <a16:creationId xmlns:a16="http://schemas.microsoft.com/office/drawing/2014/main" id="{83A08855-5CE7-4364-AABE-C1267B8D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制作は、快感の核から広げる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551AAC00-1D3D-488B-99BE-E0996A4A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25 / 28">
            <a:extLst xmlns:a="http://schemas.openxmlformats.org/drawingml/2006/main">
              <a:ext uri="{FF2B5EF4-FFF2-40B4-BE49-F238E27FC236}">
                <a16:creationId xmlns:a16="http://schemas.microsoft.com/office/drawing/2014/main" id="{85425EFC-36EC-4930-8DF8-A168721F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25 / 28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647825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4857750"/>
                <a:gridCol w="4333875"/>
              </a:tblGrid>
              <a:tr h="682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段階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作るもの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次へ進む理由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P1a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爆発3枚＋汎用3種＋進化1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一発から群れが崩れる手応え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P1b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3系統＋進化3種類を実装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別の構成で遊び直したくなる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P2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同じ地形で防衛を追加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守る判断が面白さを増やす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P3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実2人、その後4人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待ち時間と同期が成立する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P4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報酬・解放・既存進行を接続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既存の価値を保って製品にする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</a:tbl>
          </a:graphicData>
        </a:graphic>
      </p:graphicFrame>
      <p:sp>
        <p:nvSpPr>
          <p:cNvPr id="6" name="汎用3種類は各最大4段階。建築・地形破壊・新兵科量産は初回範囲に">
            <a:extLst xmlns:a="http://schemas.openxmlformats.org/drawingml/2006/main">
              <a:ext uri="{FF2B5EF4-FFF2-40B4-BE49-F238E27FC236}">
                <a16:creationId xmlns:a16="http://schemas.microsoft.com/office/drawing/2014/main" id="{E576D74D-54DE-454E-A2A5-8E4CD810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汎用3種類は各最大4段階。建築・地形破壊・新兵科量産は初回範囲に入れない。</a:t>
            </a:r>
          </a:p>
        </p:txBody>
      </p:sp>
    </p:spTree>
    <p:extLst>
      <p:ext uri="{BB962C8B-B14F-4D97-AF65-F5344CB8AC3E}">
        <p14:creationId xmlns:p14="http://schemas.microsoft.com/office/powerpoint/2010/main" val="20894435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A5C5C0FF-C99E-465C-B42D-75C295F2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試遊で確かめること">
            <a:extLst xmlns:a="http://schemas.openxmlformats.org/drawingml/2006/main">
              <a:ext uri="{FF2B5EF4-FFF2-40B4-BE49-F238E27FC236}">
                <a16:creationId xmlns:a16="http://schemas.microsoft.com/office/drawing/2014/main" id="{9C6B3547-72C5-4E7B-8DF2-B2C9EAA5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試遊で確かめること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3480E3F7-FCC4-4F88-A9F4-2AAC8DF7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26 / 28">
            <a:extLst xmlns:a="http://schemas.openxmlformats.org/drawingml/2006/main">
              <a:ext uri="{FF2B5EF4-FFF2-40B4-BE49-F238E27FC236}">
                <a16:creationId xmlns:a16="http://schemas.microsoft.com/office/drawing/2014/main" id="{66672D33-9245-4CB5-87AA-03F50D64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26 / 28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647825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4238625"/>
                <a:gridCol w="4191000"/>
              </a:tblGrid>
              <a:tr h="682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問い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見る・聞くこと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8FE0BE"/>
                          </a:solidFill>
                          <a:latin typeface="Yu Gothic"/>
                          <a:ea typeface="Yu Gothic"/>
                          <a:cs typeface="Yu Gothic"/>
                        </a:rPr>
                        <a:t>見直す兆候</a:t>
                      </a:r>
                    </a:p>
                  </a:txBody>
                  <a:tcPr marL="133350" marR="133350" marT="85725" marB="76200" anchor="ctr">
                    <a:solidFill>
                      <a:srgbClr val="244348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変化が分かるか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1分後に能力の違いを説明してもらう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数値欄を見ないと分からない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自分で仕掛けたか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狙う敵や位置を変えた理由を聞く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どこを撃っても同じ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完成を味わえたか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進化から終了までの操作時間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進化直後の終了が続く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もう一回したいか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自発的な再挑戦と、その理由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報酬だけが動機になる</a:t>
                      </a:r>
                    </a:p>
                  </a:txBody>
                  <a:tcPr marL="133350" marR="133350" marT="85725" marB="76200" anchor="ctr">
                    <a:solidFill>
                      <a:srgbClr val="19323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協力で疲れないか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停止合計、最後の人を待つ時間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0F5F3"/>
                          </a:solidFill>
                          <a:latin typeface="Yu Gothic"/>
                          <a:ea typeface="Yu Gothic"/>
                          <a:cs typeface="Yu Gothic"/>
                        </a:rPr>
                        <a:t>毎回待ちが長いと感じる</a:t>
                      </a:r>
                    </a:p>
                  </a:txBody>
                  <a:tcPr marL="133350" marR="133350" marT="85725" marB="76200" anchor="ctr">
                    <a:solidFill>
                      <a:srgbClr val="142B31"/>
                    </a:solidFill>
                  </a:tcPr>
                </a:tc>
              </a:tr>
            </a:tbl>
          </a:graphicData>
        </a:graphic>
      </p:graphicFrame>
      <p:sp>
        <p:nvSpPr>
          <p:cNvPr id="6" name="楽しさは未検証。少人数の試遊を、すべてのプレイヤーの保証にしない">
            <a:extLst xmlns:a="http://schemas.openxmlformats.org/drawingml/2006/main">
              <a:ext uri="{FF2B5EF4-FFF2-40B4-BE49-F238E27FC236}">
                <a16:creationId xmlns:a16="http://schemas.microsoft.com/office/drawing/2014/main" id="{5E755F8C-58D4-47BA-A55B-6BAEDDD8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楽しさは未検証。少人数の試遊を、すべてのプレイヤーの保証にしない。</a:t>
            </a:r>
          </a:p>
        </p:txBody>
      </p:sp>
    </p:spTree>
    <p:extLst>
      <p:ext uri="{BB962C8B-B14F-4D97-AF65-F5344CB8AC3E}">
        <p14:creationId xmlns:p14="http://schemas.microsoft.com/office/powerpoint/2010/main" val="157134861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3A1D64E6-FCB3-4D2E-A4E5-FFBE0837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アプデ後に増やしたい魅力">
            <a:extLst xmlns:a="http://schemas.openxmlformats.org/drawingml/2006/main">
              <a:ext uri="{FF2B5EF4-FFF2-40B4-BE49-F238E27FC236}">
                <a16:creationId xmlns:a16="http://schemas.microsoft.com/office/drawing/2014/main" id="{C628E889-0565-48C7-84A7-014B520A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アプデ後に増やしたい魅力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FB2DA4DD-0ED9-49EC-A34F-7755491F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27 / 28">
            <a:extLst xmlns:a="http://schemas.openxmlformats.org/drawingml/2006/main">
              <a:ext uri="{FF2B5EF4-FFF2-40B4-BE49-F238E27FC236}">
                <a16:creationId xmlns:a16="http://schemas.microsoft.com/office/drawing/2014/main" id="{AFC4F310-1C60-438A-987B-FE9302CF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27 / 28</a:t>
            </a:r>
          </a:p>
        </p:txBody>
      </p:sp>
      <p:sp>
        <p:nvSpPr>
          <p:cNvPr id="5" name="旧来の魅力">
            <a:extLst xmlns:a="http://schemas.openxmlformats.org/drawingml/2006/main">
              <a:ext uri="{FF2B5EF4-FFF2-40B4-BE49-F238E27FC236}">
                <a16:creationId xmlns:a16="http://schemas.microsoft.com/office/drawing/2014/main" id="{237605F0-1F71-44FC-BD78-B28FF86A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8FE0BE"/>
                </a:solidFill>
                <a:latin typeface="Yu Gothic"/>
                <a:ea typeface="Yu Gothic"/>
                <a:cs typeface="Yu Gothic"/>
              </a:defRPr>
            </a:pPr>
            <a:r>
              <a:rPr sz="4275" b="1">
                <a:solidFill>
                  <a:srgbClr val="8FE0BE"/>
                </a:solidFill>
                <a:latin typeface="Yu Gothic"/>
                <a:ea typeface="Yu Gothic"/>
                <a:cs typeface="Yu Gothic"/>
              </a:rPr>
              <a:t>旧来の魅力</a:t>
            </a:r>
          </a:p>
        </p:txBody>
      </p:sp>
      <p:sp>
        <p:nvSpPr>
          <p:cNvPr id="6" name="兵士として戦場を切り抜ける">
            <a:extLst xmlns:a="http://schemas.openxmlformats.org/drawingml/2006/main">
              <a:ext uri="{FF2B5EF4-FFF2-40B4-BE49-F238E27FC236}">
                <a16:creationId xmlns:a16="http://schemas.microsoft.com/office/drawing/2014/main" id="{FCE92F4D-24D2-40F6-911C-F31F325A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兵士として戦場を切り抜ける</a:t>
            </a:r>
          </a:p>
        </p:txBody>
      </p:sp>
      <p:sp>
        <p:nvSpPr>
          <p:cNvPr id="7" name="「狙いが通った」&#10;「危ない攻撃を避けた」&#10;「この武器で対処できた">
            <a:extLst xmlns:a="http://schemas.openxmlformats.org/drawingml/2006/main">
              <a:ext uri="{FF2B5EF4-FFF2-40B4-BE49-F238E27FC236}">
                <a16:creationId xmlns:a16="http://schemas.microsoft.com/office/drawing/2014/main" id="{D5BE0B39-1F6D-4730-AFDA-39CE108F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5238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「狙いが通った」</a:t>
            </a:r>
          </a:p>
          <a:p xmlns:a="http://schemas.openxmlformats.org/drawingml/2006/main">
            <a:pPr>
              <a:def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「危ない攻撃を避けた」</a:t>
            </a:r>
          </a:p>
          <a:p xmlns:a="http://schemas.openxmlformats.org/drawingml/2006/main">
            <a:pPr>
              <a:def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「この武器で対処できた」</a:t>
            </a:r>
          </a:p>
        </p:txBody>
      </p:sp>
      <p:sp>
        <p:nvSpPr>
          <p:cNvPr id="8" name="加わる魅力">
            <a:extLst xmlns:a="http://schemas.openxmlformats.org/drawingml/2006/main">
              <a:ext uri="{FF2B5EF4-FFF2-40B4-BE49-F238E27FC236}">
                <a16:creationId xmlns:a16="http://schemas.microsoft.com/office/drawing/2014/main" id="{93DD028B-DCC9-4329-87A2-E32530A2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FB177"/>
                </a:solidFill>
                <a:latin typeface="Yu Gothic"/>
                <a:ea typeface="Yu Gothic"/>
                <a:cs typeface="Yu Gothic"/>
              </a:defRPr>
            </a:pPr>
            <a:r>
              <a:rPr sz="4275" b="1">
                <a:solidFill>
                  <a:srgbClr val="FFB177"/>
                </a:solidFill>
                <a:latin typeface="Yu Gothic"/>
                <a:ea typeface="Yu Gothic"/>
                <a:cs typeface="Yu Gothic"/>
              </a:rPr>
              <a:t>加わる魅力</a:t>
            </a:r>
          </a:p>
        </p:txBody>
      </p:sp>
      <p:sp>
        <p:nvSpPr>
          <p:cNvPr id="9" name="自分の選択で戦い方が育つ">
            <a:extLst xmlns:a="http://schemas.openxmlformats.org/drawingml/2006/main">
              <a:ext uri="{FF2B5EF4-FFF2-40B4-BE49-F238E27FC236}">
                <a16:creationId xmlns:a16="http://schemas.microsoft.com/office/drawing/2014/main" id="{E35FB8E6-3533-4883-9E44-4055C489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自分の選択で戦い方が育つ</a:t>
            </a:r>
          </a:p>
        </p:txBody>
      </p:sp>
      <p:sp>
        <p:nvSpPr>
          <p:cNvPr id="10" name="「この組合せがつながった」&#10;「一発で群れを崩した」&#10;「次は別の構">
            <a:extLst xmlns:a="http://schemas.openxmlformats.org/drawingml/2006/main">
              <a:ext uri="{FF2B5EF4-FFF2-40B4-BE49-F238E27FC236}">
                <a16:creationId xmlns:a16="http://schemas.microsoft.com/office/drawing/2014/main" id="{2714D696-6B3E-48A7-966E-F8A15415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38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「この組合せがつながった」</a:t>
            </a:r>
          </a:p>
          <a:p xmlns:a="http://schemas.openxmlformats.org/drawingml/2006/main">
            <a:pPr>
              <a:def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「一発で群れを崩した」</a:t>
            </a:r>
          </a:p>
          <a:p xmlns:a="http://schemas.openxmlformats.org/drawingml/2006/main">
            <a:pPr>
              <a:def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「次は別の構成を試したい」</a:t>
            </a:r>
          </a:p>
        </p:txBody>
      </p:sp>
      <p:sp>
        <p:nvSpPr>
          <p:cNvPr id="11" name="両方の魅力が同じ一回の出撃で成立することを目指す。">
            <a:extLst xmlns:a="http://schemas.openxmlformats.org/drawingml/2006/main">
              <a:ext uri="{FF2B5EF4-FFF2-40B4-BE49-F238E27FC236}">
                <a16:creationId xmlns:a16="http://schemas.microsoft.com/office/drawing/2014/main" id="{2E19A2DC-DCE6-4B80-8467-4F2DC3EF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両方の魅力が同じ一回の出撃で成立することを目指す。</a:t>
            </a:r>
          </a:p>
        </p:txBody>
      </p:sp>
    </p:spTree>
    <p:extLst>
      <p:ext uri="{BB962C8B-B14F-4D97-AF65-F5344CB8AC3E}">
        <p14:creationId xmlns:p14="http://schemas.microsoft.com/office/powerpoint/2010/main" val="83026870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020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WARM FRONT  /  REBUILD CONCEPT">
            <a:extLst xmlns:a="http://schemas.openxmlformats.org/drawingml/2006/main">
              <a:ext uri="{FF2B5EF4-FFF2-40B4-BE49-F238E27FC236}">
                <a16:creationId xmlns:a16="http://schemas.microsoft.com/office/drawing/2014/main" id="{40FAFC1A-CF7E-499D-978E-490815DE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SWARM FRONT  /  REBUILD CONCEPT</a:t>
            </a:r>
          </a:p>
        </p:txBody>
      </p:sp>
      <p:sp>
        <p:nvSpPr>
          <p:cNvPr id="2" name="次のアクション">
            <a:extLst xmlns:a="http://schemas.openxmlformats.org/drawingml/2006/main">
              <a:ext uri="{FF2B5EF4-FFF2-40B4-BE49-F238E27FC236}">
                <a16:creationId xmlns:a16="http://schemas.microsoft.com/office/drawing/2014/main" id="{CCF97056-F69A-4203-BB05-EB6EF9FA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次のアクション</a:t>
            </a:r>
          </a:p>
        </p:txBody>
      </p:sp>
      <p:sp>
        <p:nvSpPr>
          <p:cNvPr id="3" name="共同設計 v1  •  実装前の提案">
            <a:extLst xmlns:a="http://schemas.openxmlformats.org/drawingml/2006/main">
              <a:ext uri="{FF2B5EF4-FFF2-40B4-BE49-F238E27FC236}">
                <a16:creationId xmlns:a16="http://schemas.microsoft.com/office/drawing/2014/main" id="{B31B9E08-B5B5-4EBA-8B47-FADC5657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共同設計 v1  •  実装前の提案</a:t>
            </a:r>
          </a:p>
        </p:txBody>
      </p:sp>
      <p:sp>
        <p:nvSpPr>
          <p:cNvPr id="4" name="28 / 28">
            <a:extLst xmlns:a="http://schemas.openxmlformats.org/drawingml/2006/main">
              <a:ext uri="{FF2B5EF4-FFF2-40B4-BE49-F238E27FC236}">
                <a16:creationId xmlns:a16="http://schemas.microsoft.com/office/drawing/2014/main" id="{DF74B543-28CD-4A44-8C99-2F2A27D5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95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28 / 28</a:t>
            </a:r>
          </a:p>
        </p:txBody>
      </p:sp>
      <p:sp>
        <p:nvSpPr>
          <p:cNvPr id="5" name="まず、爆発1系統を&#10;遊べる形にする">
            <a:extLst xmlns:a="http://schemas.openxmlformats.org/drawingml/2006/main">
              <a:ext uri="{FF2B5EF4-FFF2-40B4-BE49-F238E27FC236}">
                <a16:creationId xmlns:a16="http://schemas.microsoft.com/office/drawing/2014/main" id="{F00E7CBC-5FFA-4232-90F8-3E1E9B91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108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B177"/>
                </a:solidFill>
                <a:latin typeface="Yu Gothic"/>
                <a:ea typeface="Yu Gothic"/>
                <a:cs typeface="Yu Gothic"/>
              </a:defRPr>
            </a:pPr>
            <a:r>
              <a:rPr sz="5100" b="1">
                <a:solidFill>
                  <a:srgbClr val="FFB177"/>
                </a:solidFill>
                <a:latin typeface="Yu Gothic"/>
                <a:ea typeface="Yu Gothic"/>
                <a:cs typeface="Yu Gothic"/>
              </a:rPr>
              <a:t>まず、爆発1系統を</a:t>
            </a:r>
          </a:p>
          <a:p xmlns:a="http://schemas.openxmlformats.org/drawingml/2006/main">
            <a:pPr>
              <a:defRPr sz="5100" b="1">
                <a:solidFill>
                  <a:srgbClr val="FFB177"/>
                </a:solidFill>
                <a:latin typeface="Yu Gothic"/>
                <a:ea typeface="Yu Gothic"/>
                <a:cs typeface="Yu Gothic"/>
              </a:defRPr>
            </a:pPr>
            <a:r>
              <a:rPr sz="5100" b="1">
                <a:solidFill>
                  <a:srgbClr val="FFB177"/>
                </a:solidFill>
                <a:latin typeface="Yu Gothic"/>
                <a:ea typeface="Yu Gothic"/>
                <a:cs typeface="Yu Gothic"/>
              </a:rPr>
              <a:t>遊べる形にする</a:t>
            </a:r>
          </a:p>
        </p:txBody>
      </p:sp>
      <p:sp>
        <p:nvSpPr>
          <p:cNvPr id="6" name="誘爆核、導火、圧縮炸薬、連鎖崩落。&#10;最初の1分で違いが分かり、&#10;">
            <a:extLst xmlns:a="http://schemas.openxmlformats.org/drawingml/2006/main">
              <a:ext uri="{FF2B5EF4-FFF2-40B4-BE49-F238E27FC236}">
                <a16:creationId xmlns:a16="http://schemas.microsoft.com/office/drawing/2014/main" id="{B262F230-133E-4A74-8CC5-C15ABED8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誘爆核、導火、圧縮炸薬、連鎖崩落。</a:t>
            </a:r>
          </a:p>
          <a:p xmlns:a="http://schemas.openxmlformats.org/drawingml/2006/main">
            <a:pPr>
              <a:defRPr sz="2250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最初の1分で違いが分かり、</a:t>
            </a:r>
          </a:p>
          <a:p xmlns:a="http://schemas.openxmlformats.org/drawingml/2006/main">
            <a:pPr>
              <a:defRPr sz="2250" b="0">
                <a:solidFill>
                  <a:srgbClr val="F0F5F3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F0F5F3"/>
                </a:solidFill>
                <a:latin typeface="Yu Gothic"/>
                <a:ea typeface="Yu Gothic"/>
                <a:cs typeface="Yu Gothic"/>
              </a:rPr>
              <a:t>完成後に群れを崩す瞬間を確かめる。</a:t>
            </a:r>
          </a:p>
        </p:txBody>
      </p:sp>
      <p:sp>
        <p:nvSpPr>
          <p:cNvPr id="7" name="この試作が面白ければ、3構成、防衛、協力へ広げる。">
            <a:extLst xmlns:a="http://schemas.openxmlformats.org/drawingml/2006/main">
              <a:ext uri="{FF2B5EF4-FFF2-40B4-BE49-F238E27FC236}">
                <a16:creationId xmlns:a16="http://schemas.microsoft.com/office/drawing/2014/main" id="{485632A4-D39A-4021-8669-07094BFE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B4C9CA"/>
                </a:solidFill>
                <a:latin typeface="Yu Gothic"/>
                <a:ea typeface="Yu Gothic"/>
                <a:cs typeface="Yu Gothic"/>
              </a:rPr>
              <a:t>この試作が面白ければ、3構成、防衛、協力へ広げる。</a:t>
            </a:r>
          </a:p>
        </p:txBody>
      </p:sp>
    </p:spTree>
    <p:extLst>
      <p:ext uri="{BB962C8B-B14F-4D97-AF65-F5344CB8AC3E}">
        <p14:creationId xmlns:p14="http://schemas.microsoft.com/office/powerpoint/2010/main" val="929702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2026-09-29T04:33:39.4100000Z</dcterms:created>
  <dcterms:modified xsi:type="dcterms:W3CDTF">2026-09-29T04:33:39.4100000Z</dcterms:modified>
</coreProperties>
</file>